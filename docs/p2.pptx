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1" type="subTitle"/>
          </p:nvPr>
        </p:nvSpPr>
        <p:spPr>
          <a:xfrm>
            <a:off x="1371600" y="2914650"/>
            <a:ext cx="6400800" cy="1314450"/>
          </a:xfrm>
        </p:spPr>
        <p:txBody>
          <a:bodyPr/>
          <a:lstStyle/>
          <a:p>
            <a:pPr lvl="0" indent="0" marL="0">
              <a:buNone/>
            </a:pPr>
            <a:r>
              <a:rPr/>
              <a:t>Recommended by the DAT Team</a:t>
            </a:r>
            <a:br/>
            <a:br/>
            <a:r>
              <a:rPr/>
              <a:t>Ian J Mitchell</a:t>
            </a:r>
            <a:br/>
            <a:r>
              <a:rPr/>
              <a:t>Dennis Behm</a:t>
            </a:r>
            <a:br/>
            <a:r>
              <a:rPr/>
              <a:t>Mathieu Dalbin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Agenda</a:t>
            </a:r>
          </a:p>
          <a:p>
            <a:pPr lvl="0"/>
            <a:r>
              <a:rPr/>
              <a:t>Aims and Assumptions</a:t>
            </a:r>
          </a:p>
          <a:p>
            <a:pPr lvl="0"/>
            <a:r>
              <a:rPr/>
              <a:t>Choosing a branching model and workflow</a:t>
            </a:r>
          </a:p>
          <a:p>
            <a:pPr lvl="0"/>
            <a:r>
              <a:rPr/>
              <a:t>Starting simple</a:t>
            </a:r>
          </a:p>
          <a:p>
            <a:pPr lvl="0"/>
            <a:r>
              <a:rPr/>
              <a:t>Scaling up</a:t>
            </a:r>
          </a:p>
          <a:p>
            <a:pPr lvl="0"/>
            <a:r>
              <a:rPr/>
              <a:t>Integration branches</a:t>
            </a:r>
          </a:p>
          <a:p>
            <a:pPr lvl="0"/>
            <a:r>
              <a:rPr/>
              <a:t>Delivering changes via a release</a:t>
            </a:r>
          </a:p>
          <a:p>
            <a:pPr lvl="0"/>
            <a:r>
              <a:rPr/>
              <a:t>Hot-fix for production</a:t>
            </a:r>
          </a:p>
          <a:p>
            <a:pPr lvl="0"/>
            <a:r>
              <a:rPr/>
              <a:t>Using an Epic branch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Aims and Assumptions</a:t>
            </a:r>
          </a:p>
        </p:txBody>
      </p:sp>
      <p:sp>
        <p:nvSpPr>
          <p:cNvPr id="3" name="Content Placeholder 2"/>
          <p:cNvSpPr>
            <a:spLocks noGrp="1"/>
          </p:cNvSpPr>
          <p:nvPr>
            <p:ph idx="1"/>
          </p:nvPr>
        </p:nvSpPr>
        <p:spPr/>
        <p:txBody>
          <a:bodyPr/>
          <a:lstStyle/>
          <a:p>
            <a:pPr lvl="0" indent="0" marL="0">
              <a:buNone/>
            </a:pPr>
            <a:r>
              <a:rPr/>
              <a:t>Some aims and assumptions that guide our recommendations…</a:t>
            </a:r>
          </a:p>
          <a:p>
            <a:pPr lvl="0" indent="0" marL="0">
              <a:spcBef>
                <a:spcPts val="3000"/>
              </a:spcBef>
              <a:buNone/>
            </a:pPr>
            <a:r>
              <a:rPr b="1"/>
              <a:t>No baggage</a:t>
            </a:r>
          </a:p>
          <a:p>
            <a:pPr lvl="0" indent="0" marL="0">
              <a:buNone/>
            </a:pPr>
            <a:r>
              <a:rPr/>
              <a:t>Well… </a:t>
            </a:r>
            <a:r>
              <a:rPr i="1"/>
              <a:t>“travel light”</a:t>
            </a:r>
            <a:r>
              <a:rPr/>
              <a:t> perhaps!</a:t>
            </a:r>
          </a:p>
          <a:p>
            <a:pPr lvl="0"/>
            <a:r>
              <a:rPr/>
              <a:t>Are we </a:t>
            </a:r>
            <a:r>
              <a:rPr i="1"/>
              <a:t>prescriptive</a:t>
            </a:r>
            <a:r>
              <a:rPr/>
              <a:t> or just </a:t>
            </a:r>
            <a:r>
              <a:rPr i="1"/>
              <a:t>opinionated</a:t>
            </a:r>
            <a:r>
              <a:rPr/>
              <a:t>?</a:t>
            </a:r>
          </a:p>
          <a:p>
            <a:pPr lvl="0"/>
            <a:r>
              <a:rPr/>
              <a:t>We start with a recommendation</a:t>
            </a:r>
          </a:p>
          <a:p>
            <a:pPr lvl="1"/>
            <a:r>
              <a:rPr/>
              <a:t>Confidently</a:t>
            </a:r>
          </a:p>
          <a:p>
            <a:pPr lvl="0"/>
            <a:r>
              <a:rPr/>
              <a:t>We question everything</a:t>
            </a:r>
          </a:p>
          <a:p>
            <a:pPr lvl="1"/>
            <a:r>
              <a:rPr b="1"/>
              <a:t>YAGNI</a:t>
            </a:r>
            <a:r>
              <a:rPr/>
              <a:t> - “you aren’t gonna need it”</a:t>
            </a:r>
          </a:p>
          <a:p>
            <a:pPr lvl="0"/>
            <a:r>
              <a:rPr/>
              <a:t>We strive for simplicity</a:t>
            </a:r>
          </a:p>
          <a:p>
            <a:pPr lvl="1"/>
            <a:r>
              <a:rPr/>
              <a:t>For each user’s experience</a:t>
            </a:r>
          </a:p>
          <a:p>
            <a:pPr lvl="0" indent="0" marL="0">
              <a:spcBef>
                <a:spcPts val="3000"/>
              </a:spcBef>
              <a:buNone/>
            </a:pPr>
            <a:r>
              <a:rPr b="1"/>
              <a:t>Scaling</a:t>
            </a:r>
          </a:p>
          <a:p>
            <a:pPr lvl="0"/>
            <a:r>
              <a:rPr/>
              <a:t>The workflow and branching scheme should both scale up and scale down.</a:t>
            </a:r>
          </a:p>
          <a:p>
            <a:pPr lvl="1"/>
            <a:r>
              <a:rPr/>
              <a:t>Small teams with simple and infrequent changes will be able to easily understand, adopt, and have a good experience.</a:t>
            </a:r>
          </a:p>
          <a:p>
            <a:pPr lvl="1"/>
            <a:r>
              <a:rPr/>
              <a:t>Large, busy teams with many concurrent activities will be able to plan, track, and execute with maximum agility using the same fundamental principles.</a:t>
            </a:r>
          </a:p>
          <a:p>
            <a:pPr lvl="0" indent="0" marL="0">
              <a:spcBef>
                <a:spcPts val="3000"/>
              </a:spcBef>
              <a:buNone/>
            </a:pPr>
            <a:r>
              <a:rPr b="1"/>
              <a:t>Planning</a:t>
            </a:r>
          </a:p>
          <a:p>
            <a:pPr lvl="0"/>
            <a:r>
              <a:rPr/>
              <a:t>Planning and design activities as well as code development aim to align to a regular release cadence.</a:t>
            </a:r>
          </a:p>
          <a:p>
            <a:pPr lvl="0"/>
            <a:r>
              <a:rPr/>
              <a:t>There is no magic answer to managing large numbers of “in-flight” changes, so planning assumptions should aim as much as possible to complete changes quickly, ideally within one release cycle.</a:t>
            </a:r>
          </a:p>
          <a:p>
            <a:pPr lvl="1"/>
            <a:r>
              <a:rPr/>
              <a:t>DevOps/Agile practices typically encourage that, where possible, development teams should strive to break down larger changes into sets of smaller, incremental deliverables that can each be completed within an iteration. This reduces the number of “in-flight” changes, and allows the team to deliver value (end-to-end functionality) more quickly while still building towards a larger development goal.</a:t>
            </a:r>
          </a:p>
          <a:p>
            <a:pPr lvl="0"/>
            <a:r>
              <a:rPr/>
              <a:t>We know it is sometimes unavoidable for work to take longer than one release cycle and we accommodate that as a variant of the base workflow.</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Branching Strategy</a:t>
            </a:r>
          </a:p>
        </p:txBody>
      </p:sp>
      <p:sp>
        <p:nvSpPr>
          <p:cNvPr id="4" name="Text Placeholder 3"/>
          <p:cNvSpPr>
            <a:spLocks noGrp="1"/>
          </p:cNvSpPr>
          <p:nvPr>
            <p:ph idx="2" sz="half" type="body"/>
          </p:nvPr>
        </p:nvSpPr>
        <p:spPr/>
        <p:txBody>
          <a:bodyPr/>
          <a:lstStyle/>
          <a:p>
            <a:pPr lvl="0" indent="0" marL="0">
              <a:spcBef>
                <a:spcPts val="3000"/>
              </a:spcBef>
              <a:buNone/>
            </a:pPr>
            <a:r>
              <a:rPr b="1"/>
              <a:t>Starting Simple</a:t>
            </a:r>
          </a:p>
          <a:p>
            <a:pPr lvl="0" indent="0" marL="0">
              <a:buNone/>
            </a:pPr>
            <a:r>
              <a:rPr/>
              <a:t>Every change starts in a branch.</a:t>
            </a:r>
          </a:p>
        </p:txBody>
      </p:sp>
      <p:pic>
        <p:nvPicPr>
          <p:cNvPr descr="static/img/branching-model/image5.png" id="0" name="Picture 1"/>
          <p:cNvPicPr>
            <a:picLocks noGrp="1" noChangeAspect="1"/>
          </p:cNvPicPr>
          <p:nvPr/>
        </p:nvPicPr>
        <p:blipFill>
          <a:blip r:embed="rId2"/>
          <a:stretch>
            <a:fillRect/>
          </a:stretch>
        </p:blipFill>
        <p:spPr bwMode="auto">
          <a:xfrm>
            <a:off x="3568700" y="1765300"/>
            <a:ext cx="5105400" cy="12573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a:t>Developers work in the branch to make changes, perform user builds and unit tests.</a:t>
            </a:r>
          </a:p>
          <a:p>
            <a:pPr lvl="0"/>
            <a:r>
              <a:rPr/>
              <a:t>A branch holds multiple commits (changes to multiple files).</a:t>
            </a:r>
          </a:p>
          <a:p>
            <a:pPr lvl="0" indent="0" marL="0">
              <a:spcBef>
                <a:spcPts val="3000"/>
              </a:spcBef>
              <a:buNone/>
            </a:pPr>
            <a:r>
              <a:rPr b="1"/>
              <a:t>Starting Simple</a:t>
            </a:r>
          </a:p>
          <a:p>
            <a:pPr lvl="0" indent="0" marL="0">
              <a:buNone/>
            </a:pPr>
            <a:r>
              <a:rPr/>
              <a:t>Every change starts in a branch.</a:t>
            </a:r>
          </a:p>
        </p:txBody>
      </p:sp>
      <p:pic>
        <p:nvPicPr>
          <p:cNvPr descr="static/img/branching-model/image6.png" id="0" name="Picture 1"/>
          <p:cNvPicPr>
            <a:picLocks noGrp="1" noChangeAspect="1"/>
          </p:cNvPicPr>
          <p:nvPr/>
        </p:nvPicPr>
        <p:blipFill>
          <a:blip r:embed="rId2"/>
          <a:stretch>
            <a:fillRect/>
          </a:stretch>
        </p:blipFill>
        <p:spPr bwMode="auto">
          <a:xfrm>
            <a:off x="3568700" y="1854200"/>
            <a:ext cx="5105400" cy="10668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These branches are</a:t>
            </a:r>
          </a:p>
          <a:p>
            <a:pPr lvl="0"/>
            <a:r>
              <a:rPr/>
              <a:t>built,</a:t>
            </a:r>
          </a:p>
          <a:p>
            <a:pPr lvl="0"/>
            <a:r>
              <a:rPr/>
              <a:t>tested,</a:t>
            </a:r>
          </a:p>
          <a:p>
            <a:pPr lvl="0"/>
            <a:r>
              <a:rPr/>
              <a:t>reviewed and</a:t>
            </a:r>
          </a:p>
          <a:p>
            <a:pPr lvl="0"/>
            <a:r>
              <a:rPr/>
              <a:t>approved before merging to </a:t>
            </a:r>
            <a:r>
              <a:rPr>
                <a:latin typeface="Courier"/>
              </a:rPr>
              <a:t>main</a:t>
            </a:r>
            <a:r>
              <a:rPr/>
              <a:t>.</a:t>
            </a:r>
          </a:p>
          <a:p>
            <a:pPr lvl="0" indent="0" marL="0">
              <a:spcBef>
                <a:spcPts val="3000"/>
              </a:spcBef>
              <a:buNone/>
            </a:pPr>
            <a:r>
              <a:rPr b="1"/>
              <a:t>Merging into </a:t>
            </a:r>
            <a:r>
              <a:rPr b="1">
                <a:latin typeface="Courier"/>
              </a:rPr>
              <a:t>main</a:t>
            </a:r>
          </a:p>
          <a:p>
            <a:pPr lvl="0" indent="0" marL="0">
              <a:buNone/>
            </a:pPr>
            <a:r>
              <a:rPr/>
              <a:t>Feature Team/Developers will:</a:t>
            </a:r>
          </a:p>
          <a:p>
            <a:pPr lvl="0"/>
            <a:r>
              <a:rPr/>
              <a:t>Build</a:t>
            </a:r>
          </a:p>
          <a:p>
            <a:pPr lvl="1"/>
            <a:r>
              <a:rPr/>
              <a:t>Builds may be done to any commit on any branch</a:t>
            </a:r>
          </a:p>
          <a:p>
            <a:pPr lvl="1"/>
            <a:r>
              <a:rPr/>
              <a:t>Feature branch </a:t>
            </a:r>
            <a:r>
              <a:rPr b="1"/>
              <a:t>must</a:t>
            </a:r>
            <a:r>
              <a:rPr/>
              <a:t> build cleanly for a Pull Request</a:t>
            </a:r>
          </a:p>
          <a:p>
            <a:pPr lvl="0"/>
            <a:r>
              <a:rPr/>
              <a:t>Test</a:t>
            </a:r>
          </a:p>
          <a:p>
            <a:pPr lvl="1"/>
            <a:r>
              <a:rPr/>
              <a:t>To prove quality of the changes in their feature branch</a:t>
            </a:r>
          </a:p>
          <a:p>
            <a:pPr lvl="0" indent="0" marL="0">
              <a:buNone/>
            </a:pPr>
            <a:r>
              <a:rPr/>
              <a:t>Create a Pull Request (PR) to signal to Team Leaders/Release Controllers to:</a:t>
            </a:r>
          </a:p>
          <a:p>
            <a:pPr lvl="0"/>
            <a:r>
              <a:rPr/>
              <a:t>Review</a:t>
            </a:r>
          </a:p>
          <a:p>
            <a:pPr lvl="1"/>
            <a:r>
              <a:rPr/>
              <a:t>Code and Test results</a:t>
            </a:r>
          </a:p>
          <a:p>
            <a:pPr lvl="0"/>
            <a:r>
              <a:rPr/>
              <a:t>Approve</a:t>
            </a:r>
          </a:p>
          <a:p>
            <a:pPr lvl="1"/>
            <a:r>
              <a:rPr/>
              <a:t>Safeguard the quality of </a:t>
            </a:r>
            <a:r>
              <a:rPr>
                <a:latin typeface="Courier"/>
              </a:rPr>
              <a:t>main</a:t>
            </a:r>
          </a:p>
          <a:p>
            <a:pPr lvl="0" indent="0" marL="0">
              <a:spcBef>
                <a:spcPts val="3000"/>
              </a:spcBef>
              <a:buNone/>
            </a:pPr>
            <a:r>
              <a:rPr b="1"/>
              <a:t>Before you ask… no, no </a:t>
            </a:r>
            <a:r>
              <a:rPr b="1" i="1"/>
              <a:t>Production</a:t>
            </a:r>
            <a:r>
              <a:rPr b="1"/>
              <a:t> branch</a:t>
            </a:r>
          </a:p>
          <a:p>
            <a:pPr lvl="0" indent="0" marL="0">
              <a:buNone/>
            </a:pPr>
            <a:r>
              <a:rPr/>
              <a:t>We have no branches named </a:t>
            </a:r>
            <a:r>
              <a:rPr>
                <a:latin typeface="Courier"/>
              </a:rPr>
              <a:t>prod</a:t>
            </a:r>
            <a:r>
              <a:rPr/>
              <a:t> (or </a:t>
            </a:r>
            <a:r>
              <a:rPr>
                <a:latin typeface="Courier"/>
              </a:rPr>
              <a:t>test</a:t>
            </a:r>
            <a:r>
              <a:rPr/>
              <a:t> or </a:t>
            </a:r>
            <a:r>
              <a:rPr>
                <a:latin typeface="Courier"/>
              </a:rPr>
              <a:t>QA</a:t>
            </a:r>
            <a:r>
              <a:rPr/>
              <a:t>)</a:t>
            </a:r>
          </a:p>
          <a:p>
            <a:pPr lvl="0"/>
            <a:r>
              <a:rPr/>
              <a:t>Those are </a:t>
            </a:r>
            <a:r>
              <a:rPr i="1"/>
              <a:t>environments</a:t>
            </a:r>
            <a:r>
              <a:rPr/>
              <a:t> to which builds can be deployed</a:t>
            </a:r>
          </a:p>
          <a:p>
            <a:pPr lvl="0"/>
            <a:r>
              <a:rPr/>
              <a:t>Such extra branches:</a:t>
            </a:r>
          </a:p>
          <a:p>
            <a:pPr lvl="1"/>
            <a:r>
              <a:rPr/>
              <a:t>are unnecessary</a:t>
            </a:r>
          </a:p>
          <a:p>
            <a:pPr lvl="1"/>
            <a:r>
              <a:rPr/>
              <a:t>cause ambiguity</a:t>
            </a:r>
          </a:p>
          <a:p>
            <a:pPr lvl="1"/>
            <a:r>
              <a:rPr/>
              <a:t>impose merging and building overheads</a:t>
            </a:r>
          </a:p>
          <a:p>
            <a:pPr lvl="0" indent="0" marL="0">
              <a:spcBef>
                <a:spcPts val="3000"/>
              </a:spcBef>
              <a:buNone/>
            </a:pPr>
            <a:r>
              <a:rPr b="1"/>
              <a:t>Release branches</a:t>
            </a:r>
          </a:p>
          <a:p>
            <a:pPr lvl="0" indent="0" marL="0">
              <a:buNone/>
            </a:pPr>
            <a:r>
              <a:rPr/>
              <a:t>Any point in the history of </a:t>
            </a:r>
            <a:r>
              <a:rPr>
                <a:latin typeface="Courier"/>
              </a:rPr>
              <a:t>main</a:t>
            </a:r>
            <a:r>
              <a:rPr/>
              <a:t> can be declared a </a:t>
            </a:r>
            <a:r>
              <a:rPr i="1"/>
              <a:t>release candidate</a:t>
            </a:r>
            <a:r>
              <a:rPr/>
              <a:t>.</a:t>
            </a:r>
          </a:p>
          <a:p>
            <a:pPr lvl="0"/>
            <a:r>
              <a:rPr/>
              <a:t>Build a </a:t>
            </a:r>
            <a:r>
              <a:rPr i="1"/>
              <a:t>release candidate</a:t>
            </a:r>
            <a:r>
              <a:rPr/>
              <a:t> package</a:t>
            </a:r>
          </a:p>
          <a:p>
            <a:pPr lvl="0"/>
            <a:r>
              <a:rPr/>
              <a:t>Test it</a:t>
            </a:r>
          </a:p>
          <a:p>
            <a:pPr lvl="0"/>
            <a:r>
              <a:rPr/>
              <a:t>Deploy it</a:t>
            </a:r>
          </a:p>
          <a:p>
            <a:pPr lvl="0" indent="0" marL="0">
              <a:buNone/>
            </a:pPr>
            <a:r>
              <a:rPr/>
              <a:t>Tag the commit (point in </a:t>
            </a:r>
            <a:r>
              <a:rPr>
                <a:latin typeface="Courier"/>
              </a:rPr>
              <a:t>main</a:t>
            </a:r>
            <a:r>
              <a:rPr/>
              <a:t>’s history) with a release name.</a:t>
            </a:r>
          </a:p>
          <a:p>
            <a:pPr lvl="0" indent="0" marL="0">
              <a:buNone/>
            </a:pPr>
            <a:r>
              <a:rPr/>
              <a:t>A </a:t>
            </a:r>
            <a:r>
              <a:rPr i="1"/>
              <a:t>release maintenance</a:t>
            </a:r>
            <a:r>
              <a:rPr/>
              <a:t> branch will be used if </a:t>
            </a:r>
            <a:r>
              <a:rPr i="1"/>
              <a:t>hot-fixes</a:t>
            </a:r>
            <a:r>
              <a:rPr/>
              <a:t> must be developed and delivered.</a:t>
            </a:r>
          </a:p>
          <a:p>
            <a:pPr lvl="0" indent="0" marL="0">
              <a:spcBef>
                <a:spcPts val="3000"/>
              </a:spcBef>
              <a:buNone/>
            </a:pPr>
            <a:r>
              <a:rPr b="1"/>
              <a:t>Release branches</a:t>
            </a:r>
          </a:p>
        </p:txBody>
      </p:sp>
      <p:pic>
        <p:nvPicPr>
          <p:cNvPr descr="static/img/branching-model/image2.png" id="0" name="Picture 1"/>
          <p:cNvPicPr>
            <a:picLocks noGrp="1" noChangeAspect="1"/>
          </p:cNvPicPr>
          <p:nvPr/>
        </p:nvPicPr>
        <p:blipFill>
          <a:blip r:embed="rId2"/>
          <a:stretch>
            <a:fillRect/>
          </a:stretch>
        </p:blipFill>
        <p:spPr bwMode="auto">
          <a:xfrm>
            <a:off x="3568700" y="406400"/>
            <a:ext cx="5105400" cy="39878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Scaling up</a:t>
            </a:r>
          </a:p>
          <a:p>
            <a:pPr lvl="0" indent="0" marL="0">
              <a:buNone/>
            </a:pPr>
            <a:r>
              <a:rPr/>
              <a:t>Concurrent </a:t>
            </a:r>
            <a:r>
              <a:rPr i="1"/>
              <a:t>feature</a:t>
            </a:r>
            <a:r>
              <a:rPr/>
              <a:t> branches scale very well, but assume short cycle times.</a:t>
            </a:r>
          </a:p>
          <a:p>
            <a:pPr lvl="0"/>
            <a:r>
              <a:rPr/>
              <a:t>Ideally live within a release delivery cycle</a:t>
            </a:r>
          </a:p>
          <a:p>
            <a:pPr lvl="0"/>
            <a:r>
              <a:rPr/>
              <a:t>But no big deal if they don’t</a:t>
            </a:r>
          </a:p>
          <a:p>
            <a:pPr lvl="0" indent="0" marL="0">
              <a:buNone/>
            </a:pPr>
            <a:r>
              <a:rPr i="1"/>
              <a:t>Epic</a:t>
            </a:r>
            <a:r>
              <a:rPr/>
              <a:t> branches can collect multiple features</a:t>
            </a:r>
          </a:p>
          <a:p>
            <a:pPr lvl="0"/>
            <a:r>
              <a:rPr/>
              <a:t>Before going to </a:t>
            </a:r>
            <a:r>
              <a:rPr>
                <a:latin typeface="Courier"/>
              </a:rPr>
              <a:t>main</a:t>
            </a:r>
          </a:p>
          <a:p>
            <a:pPr lvl="0"/>
            <a:r>
              <a:rPr/>
              <a:t>When the delivery is planned beyond the next release</a:t>
            </a:r>
          </a:p>
          <a:p>
            <a:pPr lvl="0" indent="0" marL="0">
              <a:buNone/>
            </a:pPr>
            <a:r>
              <a:rPr/>
              <a:t>(</a:t>
            </a:r>
            <a:r>
              <a:rPr i="1"/>
              <a:t>Epic</a:t>
            </a:r>
            <a:r>
              <a:rPr/>
              <a:t> branches are a form of </a:t>
            </a:r>
            <a:r>
              <a:rPr i="1"/>
              <a:t>integration</a:t>
            </a:r>
            <a:r>
              <a:rPr/>
              <a:t> branch.)</a:t>
            </a:r>
          </a:p>
          <a:p>
            <a:pPr lvl="0" indent="0" marL="0">
              <a:spcBef>
                <a:spcPts val="3000"/>
              </a:spcBef>
              <a:buNone/>
            </a:pPr>
            <a:r>
              <a:rPr b="1"/>
              <a:t>Integration branches</a:t>
            </a:r>
          </a:p>
        </p:txBody>
      </p:sp>
      <p:pic>
        <p:nvPicPr>
          <p:cNvPr descr="static/img/branching-model/image3.png" id="0" name="Picture 1"/>
          <p:cNvPicPr>
            <a:picLocks noGrp="1" noChangeAspect="1"/>
          </p:cNvPicPr>
          <p:nvPr/>
        </p:nvPicPr>
        <p:blipFill>
          <a:blip r:embed="rId2"/>
          <a:stretch>
            <a:fillRect/>
          </a:stretch>
        </p:blipFill>
        <p:spPr bwMode="auto">
          <a:xfrm>
            <a:off x="3568700" y="330200"/>
            <a:ext cx="5105400" cy="41402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Worflows supported by the strategy</a:t>
            </a:r>
          </a:p>
        </p:txBody>
      </p:sp>
      <p:sp>
        <p:nvSpPr>
          <p:cNvPr id="4" name="Text Placeholder 3"/>
          <p:cNvSpPr>
            <a:spLocks noGrp="1"/>
          </p:cNvSpPr>
          <p:nvPr>
            <p:ph idx="2" sz="half" type="body"/>
          </p:nvPr>
        </p:nvSpPr>
        <p:spPr/>
        <p:txBody>
          <a:bodyPr/>
          <a:lstStyle/>
          <a:p>
            <a:pPr lvl="0" indent="0" marL="0">
              <a:buNone/>
            </a:pPr>
            <a:r>
              <a:rPr/>
              <a:t>What do teams do?</a:t>
            </a:r>
          </a:p>
          <a:p>
            <a:pPr lvl="0" indent="0" marL="0">
              <a:spcBef>
                <a:spcPts val="3000"/>
              </a:spcBef>
              <a:buNone/>
            </a:pPr>
            <a:r>
              <a:rPr b="1"/>
              <a:t>Three foundation workflows</a:t>
            </a:r>
          </a:p>
          <a:p>
            <a:pPr lvl="0"/>
            <a:r>
              <a:rPr/>
              <a:t>Deliver changes with the next planned release</a:t>
            </a:r>
          </a:p>
          <a:p>
            <a:pPr lvl="0"/>
            <a:r>
              <a:rPr/>
              <a:t>Implement a fix for the current production state</a:t>
            </a:r>
          </a:p>
          <a:p>
            <a:pPr lvl="0"/>
            <a:r>
              <a:rPr/>
              <a:t>Use an epic branch for a significant development initiative</a:t>
            </a:r>
          </a:p>
          <a:p>
            <a:pPr lvl="0" indent="0" marL="0">
              <a:spcBef>
                <a:spcPts val="3000"/>
              </a:spcBef>
              <a:buNone/>
            </a:pPr>
            <a:r>
              <a:rPr b="1"/>
              <a:t>Delivering changes via a release</a:t>
            </a:r>
          </a:p>
        </p:txBody>
      </p:sp>
      <p:pic>
        <p:nvPicPr>
          <p:cNvPr descr="p2_files/figure-pptx/mermaid-figure-1.png" id="0" name="Picture 1"/>
          <p:cNvPicPr>
            <a:picLocks noGrp="1" noChangeAspect="1"/>
          </p:cNvPicPr>
          <p:nvPr/>
        </p:nvPicPr>
        <p:blipFill>
          <a:blip r:embed="rId2"/>
          <a:stretch>
            <a:fillRect/>
          </a:stretch>
        </p:blipFill>
        <p:spPr bwMode="auto">
          <a:xfrm>
            <a:off x="3568700" y="2184400"/>
            <a:ext cx="5105400" cy="4064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Hot-fix for production</a:t>
            </a:r>
          </a:p>
          <a:p>
            <a:pPr lvl="0" indent="0" marL="0">
              <a:spcBef>
                <a:spcPts val="3000"/>
              </a:spcBef>
              <a:buNone/>
            </a:pPr>
            <a:r>
              <a:rPr b="1"/>
              <a:t>Using an Epic branch</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Ian J Mitchell; Dennis Behm; Mathieu Dalbin</dc:creator>
  <cp:keywords/>
  <dcterms:created xsi:type="dcterms:W3CDTF">2023-11-27T20:02:33Z</dcterms:created>
  <dcterms:modified xsi:type="dcterms:W3CDTF">2023-11-27T20:02:33Z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ody-header">
    <vt:lpwstr>This page brought to you by https://example.com</vt:lpwstr>
  </property>
  <property fmtid="{D5CDD505-2E9C-101B-9397-08002B2CF9AE}" pid="5" name="by-author">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margin-footer">
    <vt:lpwstr/>
  </property>
  <property fmtid="{D5CDD505-2E9C-101B-9397-08002B2CF9AE}" pid="11" name="subtitle">
    <vt:lpwstr>Recommended by the DAT Team</vt:lpwstr>
  </property>
  <property fmtid="{D5CDD505-2E9C-101B-9397-08002B2CF9AE}" pid="12" name="toc-title">
    <vt:lpwstr>Table of contents</vt:lpwstr>
  </property>
</Properties>
</file>