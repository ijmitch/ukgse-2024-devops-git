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Fundamentals of the branching strategy</a:t>
            </a:r>
          </a:p>
          <a:p>
            <a:pPr lvl="0"/>
            <a:r>
              <a:rPr/>
              <a:t>Supported workflows</a:t>
            </a:r>
          </a:p>
          <a:p>
            <a:pPr lvl="0"/>
            <a:r>
              <a:rPr/>
              <a:t>Implementing pipelines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1"/>
            <a:r>
              <a:rPr/>
              <a:t>Aim to be </a:t>
            </a:r>
            <a:r>
              <a:rPr i="1"/>
              <a:t>git-native</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 cadence of the next planned release is defined by the application team.</a:t>
            </a:r>
          </a:p>
          <a:p>
            <a:pPr lvl="0"/>
            <a:r>
              <a:rPr/>
              <a:t>There is no magic answer to managing large numbers of “in-flight” changes, so planning assumptions should aim as much as possible to complete changes quickly, ideally within one release cycle.</a:t>
            </a:r>
          </a:p>
          <a:p>
            <a:pPr lvl="1"/>
            <a:r>
              <a:rPr/>
              <a:t>DevOps/Agile practices to break down larger changes into sets of </a:t>
            </a:r>
            <a:r>
              <a:rPr b="1"/>
              <a:t>smaller, incremental</a:t>
            </a:r>
            <a:r>
              <a:rPr/>
              <a:t> deliverables that can each be completed within an iteration.</a:t>
            </a:r>
          </a:p>
          <a:p>
            <a:pPr lvl="1"/>
            <a:r>
              <a:rPr/>
              <a:t>This reduces the number of “in-flight” changes, and allows the team to deliver </a:t>
            </a:r>
            <a:r>
              <a:rPr b="1"/>
              <a:t>value</a:t>
            </a:r>
            <a:r>
              <a:rPr/>
              <a:t>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defaultWorkflow_featureBranchPipelin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changes on 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Preparing to Merge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p:txBody>
      </p:sp>
      <p:pic>
        <p:nvPicPr>
          <p:cNvPr descr="static/img/branching-model/image18.png" id="0" name="Picture 1"/>
          <p:cNvPicPr>
            <a:picLocks noGrp="1" noChangeAspect="1"/>
          </p:cNvPicPr>
          <p:nvPr/>
        </p:nvPicPr>
        <p:blipFill>
          <a:blip r:embed="rId2"/>
          <a:stretch>
            <a:fillRect/>
          </a:stretch>
        </p:blipFill>
        <p:spPr bwMode="auto">
          <a:xfrm>
            <a:off x="3568700" y="1371600"/>
            <a:ext cx="5105400" cy="2044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Merging into </a:t>
            </a:r>
            <a:r>
              <a:rPr b="1">
                <a:latin typeface="Courier"/>
              </a:rPr>
              <a:t>main</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latin typeface="Courier"/>
              </a:rPr>
              <a:t>main</a:t>
            </a:r>
            <a:r>
              <a:rPr/>
              <a:t> and other long-lived branches are </a:t>
            </a:r>
            <a:r>
              <a:rPr i="1"/>
              <a:t>protected</a:t>
            </a:r>
            <a:r>
              <a:rPr/>
              <a:t> (not everyone can </a:t>
            </a:r>
            <a:r>
              <a:rPr>
                <a:latin typeface="Courier"/>
              </a:rPr>
              <a:t>push</a:t>
            </a:r>
            <a:r>
              <a:rPr/>
              <a:t> or </a:t>
            </a:r>
            <a:r>
              <a:rPr>
                <a:latin typeface="Courier"/>
              </a:rPr>
              <a:t>merge</a:t>
            </a:r>
            <a:r>
              <a:rPr/>
              <a:t> to them).</a:t>
            </a:r>
          </a:p>
          <a:p>
            <a:pPr lvl="0" indent="0" marL="0">
              <a:spcBef>
                <a:spcPts val="3000"/>
              </a:spcBef>
              <a:buNone/>
            </a:pPr>
            <a:r>
              <a:rPr b="1"/>
              <a:t>Before you ask… no, there is no </a:t>
            </a:r>
            <a:r>
              <a:rPr b="1" i="1"/>
              <a:t>Production</a:t>
            </a:r>
            <a:r>
              <a:rPr b="1"/>
              <a:t> branch</a:t>
            </a:r>
          </a:p>
          <a:p>
            <a:pPr lvl="0" indent="0" marL="0">
              <a:buNone/>
            </a:pPr>
            <a:r>
              <a:rPr/>
              <a:t>CI/CD decouples the building and deploying to test environments and production.</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a:r>
              <a:rPr/>
              <a:t>Deployment manager is maintaining what is deployed where and provides traceability from developer to production deployment</a:t>
            </a:r>
          </a:p>
          <a:p>
            <a:pPr lvl="0" indent="0" marL="0">
              <a:spcBef>
                <a:spcPts val="3000"/>
              </a:spcBef>
              <a:buNone/>
            </a:pPr>
            <a:r>
              <a:rPr b="1"/>
              <a:t>Testing a release candidate</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Deploy it</a:t>
            </a:r>
          </a:p>
          <a:p>
            <a:pPr lvl="0"/>
            <a:r>
              <a:rPr/>
              <a:t>Test it</a:t>
            </a:r>
          </a:p>
        </p:txBody>
      </p:sp>
      <p:pic>
        <p:nvPicPr>
          <p:cNvPr descr="static/img/branching-model/defaultWorkflow_releasePipeline_RC1.png" id="0" name="Picture 1"/>
          <p:cNvPicPr>
            <a:picLocks noGrp="1" noChangeAspect="1"/>
          </p:cNvPicPr>
          <p:nvPr/>
        </p:nvPicPr>
        <p:blipFill>
          <a:blip r:embed="rId2"/>
          <a:stretch>
            <a:fillRect/>
          </a:stretch>
        </p:blipFill>
        <p:spPr bwMode="auto">
          <a:xfrm>
            <a:off x="3568700" y="1320800"/>
            <a:ext cx="5105400" cy="2159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Deploying to production</a:t>
            </a:r>
          </a:p>
          <a:p>
            <a:pPr lvl="0" indent="0" marL="0">
              <a:buNone/>
            </a:pPr>
            <a:r>
              <a:rPr/>
              <a:t>When all the committed work items for the next planned release are ready to be shipped, and all quality gates have passed successfully and the required approvals have been issued by the appropriate reviewers, the release package and be deployed to production.</a:t>
            </a:r>
          </a:p>
        </p:txBody>
      </p:sp>
      <p:pic>
        <p:nvPicPr>
          <p:cNvPr descr="static/img/branching-model/defaultWorkflow_fullPic.png" id="0" name="Picture 1"/>
          <p:cNvPicPr>
            <a:picLocks noGrp="1" noChangeAspect="1"/>
          </p:cNvPicPr>
          <p:nvPr/>
        </p:nvPicPr>
        <p:blipFill>
          <a:blip r:embed="rId2"/>
          <a:stretch>
            <a:fillRect/>
          </a:stretch>
        </p:blipFill>
        <p:spPr bwMode="auto">
          <a:xfrm>
            <a:off x="3568700" y="1130300"/>
            <a:ext cx="51054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Release maintenance branches</a:t>
            </a:r>
          </a:p>
          <a:p>
            <a:pPr lvl="0" indent="0" marL="0">
              <a:buNone/>
            </a:pPr>
            <a:r>
              <a:rPr/>
              <a:t>A </a:t>
            </a:r>
            <a:r>
              <a:rPr i="1"/>
              <a:t>release maintenance</a:t>
            </a:r>
            <a:r>
              <a:rPr/>
              <a:t> branch will be used if </a:t>
            </a:r>
            <a:r>
              <a:rPr i="1"/>
              <a:t>hot-fixes</a:t>
            </a:r>
            <a:r>
              <a:rPr/>
              <a:t> must be developed and delivered.</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Convention over configuration</a:t>
            </a:r>
          </a:p>
          <a:p>
            <a:pPr lvl="0" indent="0" marL="0">
              <a:buNone/>
            </a:pPr>
            <a:r>
              <a:rPr/>
              <a:t>The principles are more important that the tools and names.</a:t>
            </a:r>
          </a:p>
          <a:p>
            <a:pPr lvl="0" indent="0" marL="0">
              <a:buNone/>
            </a:pPr>
            <a:r>
              <a:rPr/>
              <a:t>Naming conventions - making purpose obvious:</a:t>
            </a:r>
          </a:p>
          <a:p>
            <a:pPr lvl="0"/>
            <a:r>
              <a:rPr>
                <a:latin typeface="Courier"/>
              </a:rPr>
              <a:t>main</a:t>
            </a:r>
            <a:r>
              <a:rPr/>
              <a:t> : single source of truth. The only long-living branch.</a:t>
            </a:r>
          </a:p>
          <a:p>
            <a:pPr lvl="0"/>
            <a:r>
              <a:rPr>
                <a:latin typeface="Courier"/>
              </a:rPr>
              <a:t>release/rel-2.0.1</a:t>
            </a:r>
            <a:r>
              <a:rPr/>
              <a:t> : explicit versioning numbering to identify releases maintenance branch.</a:t>
            </a:r>
          </a:p>
          <a:p>
            <a:pPr lvl="0"/>
            <a:r>
              <a:rPr>
                <a:latin typeface="Courier"/>
              </a:rPr>
              <a:t>epic/47-ai-fraud-detection</a:t>
            </a:r>
            <a:r>
              <a:rPr/>
              <a:t> : development initiative identified by epic id and description.</a:t>
            </a:r>
          </a:p>
          <a:p>
            <a:pPr lvl="0"/>
            <a:r>
              <a:rPr>
                <a:latin typeface="Courier"/>
              </a:rPr>
              <a:t>feature/&lt;jira-id|servicenow-id&gt;/new-mortgage-calculation</a:t>
            </a:r>
            <a:r>
              <a:rPr/>
              <a:t> : references to other planning tools for new features for the next planned release.</a:t>
            </a:r>
          </a:p>
          <a:p>
            <a:pPr lvl="0"/>
            <a:r>
              <a:rPr>
                <a:latin typeface="Courier"/>
              </a:rPr>
              <a:t>feature/47-ai-fraud-detection/refactor-mortgage-calculation</a:t>
            </a:r>
            <a:r>
              <a:rPr/>
              <a:t>: feature implemented for development initiative</a:t>
            </a:r>
          </a:p>
          <a:p>
            <a:pPr lvl="0"/>
            <a:r>
              <a:rPr>
                <a:latin typeface="Courier"/>
              </a:rPr>
              <a:t>hotfix/rel-2.0.1/fix-mortgage-calc</a:t>
            </a:r>
            <a:r>
              <a:rPr/>
              <a:t>: fix implemented for release rel-2.0.1</a:t>
            </a:r>
          </a:p>
          <a:p>
            <a:pPr lvl="0" indent="0" marL="0">
              <a:buNone/>
            </a:pPr>
            <a:r>
              <a:rPr/>
              <a:t>Names of branches and tags flow through to builds and deployments.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Workflows supported by the strategy</a:t>
            </a:r>
          </a:p>
        </p:txBody>
      </p:sp>
      <p:sp>
        <p:nvSpPr>
          <p:cNvPr id="4" name="Text Placeholder 3"/>
          <p:cNvSpPr>
            <a:spLocks noGrp="1"/>
          </p:cNvSpPr>
          <p:nvPr>
            <p:ph idx="2" sz="half" type="body"/>
          </p:nvPr>
        </p:nvSpPr>
        <p:spPr/>
        <p:txBody>
          <a:bodyPr/>
          <a:lstStyle/>
          <a:p>
            <a:pPr lvl="0" indent="0" marL="0">
              <a:buNone/>
            </a:pPr>
            <a:r>
              <a:rPr/>
              <a:t>How do teams work with and benefit from the branch strategy?</a:t>
            </a:r>
          </a:p>
          <a:p>
            <a:pPr lvl="0" indent="0" marL="0">
              <a:spcBef>
                <a:spcPts val="3000"/>
              </a:spcBef>
              <a:buNone/>
            </a:pPr>
            <a:r>
              <a:rPr b="1"/>
              <a:t>The types of workflows</a:t>
            </a:r>
          </a:p>
          <a:p>
            <a:pPr lvl="0" indent="-342900" marL="342900">
              <a:buAutoNum type="arabicParenR"/>
            </a:pPr>
            <a:r>
              <a:rPr/>
              <a:t>Work and focus on the </a:t>
            </a:r>
            <a:r>
              <a:rPr b="1"/>
              <a:t>next planned release</a:t>
            </a:r>
            <a:r>
              <a:rPr/>
              <a:t> via the </a:t>
            </a:r>
            <a:r>
              <a:rPr>
                <a:latin typeface="Courier"/>
              </a:rPr>
              <a:t>main</a:t>
            </a:r>
            <a:r>
              <a:rPr/>
              <a:t> branch. After planning the work items for the next release, the development team is adding changes to the main branch.</a:t>
            </a:r>
          </a:p>
          <a:p>
            <a:pPr lvl="0" indent="-342900" marL="342900">
              <a:buAutoNum type="arabicParenR"/>
            </a:pPr>
            <a:r>
              <a:rPr b="1"/>
              <a:t>Resolution of a production problem</a:t>
            </a:r>
            <a:r>
              <a:rPr/>
              <a:t> in the currently-released version of the application by leveraging a release maintenance branch that is used for maintenance purposes,</a:t>
            </a:r>
          </a:p>
          <a:p>
            <a:pPr lvl="0" indent="-342900" marL="342900">
              <a:buAutoNum type="arabicParenR"/>
            </a:pPr>
            <a:r>
              <a:rPr b="1"/>
              <a:t>concurrent development activities for significant development initiatives</a:t>
            </a:r>
            <a:r>
              <a:rPr/>
              <a:t>, which include multiple planned work items for a later delivery (including starting development of a future release) by creating an epic branch from a commit point in the history of main.</a:t>
            </a:r>
          </a:p>
          <a:p>
            <a:pPr lvl="0" indent="0" marL="0">
              <a:buNone/>
            </a:pPr>
            <a:r>
              <a:rPr i="1"/>
              <a:t>The following narratives complement the structure.</a:t>
            </a:r>
          </a:p>
          <a:p>
            <a:pPr lvl="0" indent="0" marL="0">
              <a:spcBef>
                <a:spcPts val="3000"/>
              </a:spcBef>
              <a:buNone/>
            </a:pPr>
            <a:r>
              <a:rPr b="1"/>
              <a:t>Features for the next planned release</a:t>
            </a:r>
          </a:p>
          <a:p>
            <a:pPr lvl="0" indent="0" marL="0">
              <a:buNone/>
            </a:pPr>
            <a:r>
              <a:rPr b="1"/>
              <a:t>Developer activities:</a:t>
            </a:r>
          </a:p>
          <a:p>
            <a:pPr lvl="0" indent="-342900" marL="342900">
              <a:buAutoNum type="arabicPeriod"/>
            </a:pPr>
            <a:r>
              <a:rPr/>
              <a:t>Take item from backlog</a:t>
            </a:r>
          </a:p>
          <a:p>
            <a:pPr lvl="0" indent="-342900" marL="342900">
              <a:buAutoNum type="arabicPeriod"/>
            </a:pPr>
            <a:r>
              <a:rPr/>
              <a:t>Create feature branch</a:t>
            </a:r>
          </a:p>
          <a:p>
            <a:pPr lvl="0" indent="-342900" marL="342900">
              <a:buAutoNum type="arabicPeriod"/>
            </a:pPr>
            <a:r>
              <a:rPr/>
              <a:t>Code locally</a:t>
            </a:r>
          </a:p>
          <a:p>
            <a:pPr lvl="0" indent="-342900" marL="342900">
              <a:buAutoNum type="arabicPeriod"/>
            </a:pPr>
            <a:r>
              <a:rPr/>
              <a:t>Build with DBB User Build</a:t>
            </a:r>
          </a:p>
          <a:p>
            <a:pPr lvl="0" indent="-342900" marL="342900">
              <a:buAutoNum type="arabicPeriod"/>
            </a:pPr>
            <a:r>
              <a:rPr/>
              <a:t>Commit into feature branch, build and test feature functionality</a:t>
            </a:r>
          </a:p>
          <a:p>
            <a:pPr lvl="0" indent="-342900" marL="342900">
              <a:buAutoNum type="arabicPeriod"/>
            </a:pPr>
            <a:r>
              <a:rPr/>
              <a:t>Create Pull Request for review and approval</a:t>
            </a:r>
          </a:p>
          <a:p>
            <a:pPr lvl="0" indent="0" marL="0">
              <a:spcBef>
                <a:spcPts val="3000"/>
              </a:spcBef>
              <a:buNone/>
            </a:pPr>
            <a:r>
              <a:rPr b="1"/>
              <a:t>Features for the next planned release</a:t>
            </a:r>
          </a:p>
          <a:p>
            <a:pPr lvl="0" indent="0" marL="0">
              <a:buNone/>
            </a:pPr>
            <a:r>
              <a:rPr b="1"/>
              <a:t>Release control activities:</a:t>
            </a:r>
          </a:p>
          <a:p>
            <a:pPr lvl="0" indent="-342900" marL="342900">
              <a:buAutoNum startAt="7" type="arabicPeriod"/>
            </a:pPr>
            <a:r>
              <a:rPr/>
              <a:t>Merge approved branches to </a:t>
            </a:r>
            <a:r>
              <a:rPr>
                <a:latin typeface="Courier"/>
              </a:rPr>
              <a:t>main</a:t>
            </a:r>
            <a:r>
              <a:rPr/>
              <a:t> and build</a:t>
            </a:r>
          </a:p>
          <a:p>
            <a:pPr lvl="0" indent="-342900" marL="342900">
              <a:buAutoNum startAt="7" type="arabicPeriod"/>
            </a:pPr>
            <a:r>
              <a:rPr/>
              <a:t>When planned features have merged, build and tag Release Candidate package</a:t>
            </a:r>
          </a:p>
          <a:p>
            <a:pPr lvl="0" indent="-342900" marL="342900">
              <a:buAutoNum startAt="7" type="arabicPeriod"/>
            </a:pPr>
            <a:r>
              <a:rPr/>
              <a:t>Deploy Release Candidate to test environments</a:t>
            </a:r>
          </a:p>
          <a:p>
            <a:pPr lvl="0" indent="-342900" marL="342900">
              <a:buAutoNum startAt="7" type="arabicPeriod"/>
            </a:pPr>
            <a:r>
              <a:rPr/>
              <a:t>(</a:t>
            </a:r>
            <a:r>
              <a:rPr i="1"/>
              <a:t>Release candidate can be superceded</a:t>
            </a:r>
            <a:r>
              <a:rPr/>
              <a:t>)</a:t>
            </a:r>
          </a:p>
          <a:p>
            <a:pPr lvl="0" indent="-342900" marL="342900">
              <a:buAutoNum startAt="7" type="arabicPeriod"/>
            </a:pPr>
            <a:r>
              <a:rPr/>
              <a:t>Finalise Release package in Artifactory (or equivalent)</a:t>
            </a:r>
          </a:p>
          <a:p>
            <a:pPr lvl="0" indent="-342900" marL="342900">
              <a:buAutoNum startAt="7" type="arabicPeriod"/>
            </a:pPr>
            <a:r>
              <a:rPr/>
              <a:t>Tag commit from step 8 as the production release and deploy</a:t>
            </a:r>
          </a:p>
          <a:p>
            <a:pPr lvl="0" indent="0" marL="0">
              <a:spcBef>
                <a:spcPts val="3000"/>
              </a:spcBef>
              <a:buNone/>
            </a:pPr>
            <a:r>
              <a:rPr b="1"/>
              <a:t>Fix a production defect</a:t>
            </a:r>
          </a:p>
          <a:p>
            <a:pPr lvl="0"/>
            <a:r>
              <a:rPr/>
              <a:t>The process of urgent fixes for modules in the production environment follows the fix-forward approach, rather than rolling back the affected modules and reverting to the previous deployed state.</a:t>
            </a:r>
          </a:p>
          <a:p>
            <a:pPr lvl="0"/>
            <a:r>
              <a:rPr/>
              <a:t>The development team starts this process by creating a </a:t>
            </a:r>
            <a:r>
              <a:rPr b="1"/>
              <a:t>release maintenance</a:t>
            </a:r>
            <a:r>
              <a:rPr/>
              <a:t> branch of the git tag that represents the most recent release, that was deployed to production.</a:t>
            </a:r>
          </a:p>
        </p:txBody>
      </p:sp>
      <p:pic>
        <p:nvPicPr>
          <p:cNvPr descr="static/img/branching-model/releaseMaintenanceWorkflow_overview.png" id="0" name="Picture 1"/>
          <p:cNvPicPr>
            <a:picLocks noGrp="1" noChangeAspect="1"/>
          </p:cNvPicPr>
          <p:nvPr/>
        </p:nvPicPr>
        <p:blipFill>
          <a:blip r:embed="rId2"/>
          <a:stretch>
            <a:fillRect/>
          </a:stretch>
        </p:blipFill>
        <p:spPr bwMode="auto">
          <a:xfrm>
            <a:off x="4000500" y="203200"/>
            <a:ext cx="42418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7" end="1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8" end="1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9" end="1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Fix a production defect</a:t>
            </a:r>
          </a:p>
          <a:p>
            <a:pPr lvl="0" indent="0" marL="0">
              <a:buNone/>
            </a:pPr>
            <a:r>
              <a:rPr b="1"/>
              <a:t>Developer activities resolving a production defect:</a:t>
            </a:r>
          </a:p>
          <a:p>
            <a:pPr lvl="0" indent="-342900" marL="342900">
              <a:buAutoNum type="arabicPeriod"/>
            </a:pPr>
            <a:r>
              <a:rPr/>
              <a:t>Creates the </a:t>
            </a:r>
            <a:r>
              <a:rPr>
                <a:latin typeface="Courier"/>
              </a:rPr>
              <a:t>release/rel-2.1.0</a:t>
            </a:r>
            <a:r>
              <a:rPr/>
              <a:t> branch based on the existing Git tag</a:t>
            </a:r>
          </a:p>
          <a:p>
            <a:pPr lvl="0" indent="-342900" marL="342900">
              <a:buAutoNum type="arabicPeriod"/>
            </a:pPr>
            <a:r>
              <a:rPr/>
              <a:t>Creates a feature branch </a:t>
            </a:r>
            <a:r>
              <a:rPr>
                <a:latin typeface="Courier"/>
              </a:rPr>
              <a:t>hotfix/rel-2.1.0/urgent-fix</a:t>
            </a:r>
            <a:r>
              <a:rPr/>
              <a:t> from the release maintenance branch.</a:t>
            </a:r>
          </a:p>
          <a:p>
            <a:pPr lvl="0" indent="-342900" marL="342900">
              <a:buAutoNum type="arabicPeriod"/>
            </a:pPr>
            <a:r>
              <a:rPr/>
              <a:t>Implement the fix locally</a:t>
            </a:r>
          </a:p>
          <a:p>
            <a:pPr lvl="0" indent="-342900" marL="342900">
              <a:buAutoNum type="arabicPeriod"/>
            </a:pPr>
            <a:r>
              <a:rPr/>
              <a:t>Build with DBB User Build</a:t>
            </a:r>
          </a:p>
          <a:p>
            <a:pPr lvl="0" indent="-342900" marL="342900">
              <a:buAutoNum type="arabicPeriod"/>
            </a:pPr>
            <a:r>
              <a:rPr/>
              <a:t>Commit into hotfix branch, push, build and test feature functionality</a:t>
            </a:r>
          </a:p>
          <a:p>
            <a:pPr lvl="0" indent="-342900" marL="342900">
              <a:buAutoNum type="arabicPeriod"/>
            </a:pPr>
            <a:r>
              <a:rPr/>
              <a:t>Create Pull Request for review and approval</a:t>
            </a:r>
          </a:p>
          <a:p>
            <a:pPr lvl="0" indent="0" marL="0">
              <a:spcBef>
                <a:spcPts val="3000"/>
              </a:spcBef>
              <a:buNone/>
            </a:pPr>
            <a:r>
              <a:rPr b="1"/>
              <a:t>Fix a production defect</a:t>
            </a:r>
          </a:p>
          <a:p>
            <a:pPr lvl="0" indent="0" marL="0">
              <a:buNone/>
            </a:pPr>
            <a:r>
              <a:rPr b="1"/>
              <a:t>Release control activities resolving a production defect:</a:t>
            </a:r>
          </a:p>
          <a:p>
            <a:pPr lvl="0" indent="-342900" marL="342900">
              <a:buAutoNum startAt="7" type="arabicPeriod"/>
            </a:pPr>
            <a:r>
              <a:rPr/>
              <a:t>Merge hotfix branch to release maintenance branch and build</a:t>
            </a:r>
          </a:p>
          <a:p>
            <a:pPr lvl="0" indent="-342900" marL="342900">
              <a:buAutoNum startAt="7" type="arabicPeriod"/>
            </a:pPr>
            <a:r>
              <a:rPr/>
              <a:t>Use release pipeline to create fix package</a:t>
            </a:r>
          </a:p>
          <a:p>
            <a:pPr lvl="0" indent="-342900" marL="342900">
              <a:buAutoNum startAt="7" type="arabicPeriod"/>
            </a:pPr>
            <a:r>
              <a:rPr/>
              <a:t>Deploy fix package to controlled test environments and test it</a:t>
            </a:r>
          </a:p>
          <a:p>
            <a:pPr lvl="0" indent="-342900" marL="342900">
              <a:buAutoNum startAt="7" type="arabicPeriod"/>
            </a:pPr>
            <a:r>
              <a:rPr/>
              <a:t>Deploy fix package to production</a:t>
            </a:r>
          </a:p>
          <a:p>
            <a:pPr lvl="0" indent="-342900" marL="342900">
              <a:buAutoNum startAt="7" type="arabicPeriod"/>
            </a:pPr>
            <a:r>
              <a:rPr/>
              <a:t>Tag commit from step 8 indicating the new version</a:t>
            </a:r>
          </a:p>
          <a:p>
            <a:pPr lvl="0" indent="-342900" marL="342900">
              <a:buAutoNum startAt="7" type="arabicPeriod"/>
            </a:pPr>
            <a:r>
              <a:rPr/>
              <a:t>Merge release maintenance branch into </a:t>
            </a:r>
            <a:r>
              <a:rPr>
                <a:latin typeface="Courier"/>
              </a:rPr>
              <a:t>main</a:t>
            </a:r>
            <a:r>
              <a:rPr/>
              <a:t>.</a:t>
            </a:r>
          </a:p>
          <a:p>
            <a:pPr lvl="0" indent="0" marL="0">
              <a:spcBef>
                <a:spcPts val="3000"/>
              </a:spcBef>
              <a:buNone/>
            </a:pPr>
            <a:r>
              <a:rPr b="1"/>
              <a:t>Using the Epic branch workflow</a:t>
            </a:r>
          </a:p>
          <a:p>
            <a:pPr lvl="0" indent="0" marL="0">
              <a:buNone/>
            </a:pPr>
            <a:r>
              <a:rPr/>
              <a:t>Dealing with significant development initiatives such as:</a:t>
            </a:r>
          </a:p>
          <a:p>
            <a:pPr lvl="0"/>
            <a:r>
              <a:rPr/>
              <a:t>Updates in regulatory frameworks</a:t>
            </a:r>
          </a:p>
          <a:p>
            <a:pPr lvl="0"/>
            <a:r>
              <a:rPr/>
              <a:t>Start the development phase of </a:t>
            </a:r>
            <a:r>
              <a:rPr i="1"/>
              <a:t>subsequent</a:t>
            </a:r>
            <a:r>
              <a:rPr/>
              <a:t> releases</a:t>
            </a:r>
          </a:p>
          <a:p>
            <a:pPr lvl="0" indent="0" marL="0">
              <a:buNone/>
            </a:pPr>
            <a:r>
              <a:rPr/>
              <a:t>→ A process to work independently from the base workflow.</a:t>
            </a:r>
          </a:p>
          <a:p>
            <a:pPr lvl="0" indent="0" marL="0">
              <a:spcBef>
                <a:spcPts val="3000"/>
              </a:spcBef>
              <a:buNone/>
            </a:pPr>
            <a:r>
              <a:rPr b="1"/>
              <a:t>Using the Epic branch workflow</a:t>
            </a:r>
          </a:p>
          <a:p>
            <a:pPr lvl="0" indent="0" marL="0">
              <a:buNone/>
            </a:pPr>
            <a:r>
              <a:rPr b="1"/>
              <a:t>Developer activities for implementing significant development initiatives:</a:t>
            </a:r>
          </a:p>
          <a:p>
            <a:pPr lvl="0" indent="-342900" marL="342900">
              <a:buAutoNum type="arabicPeriod"/>
            </a:pPr>
            <a:r>
              <a:rPr/>
              <a:t>Creates the </a:t>
            </a:r>
            <a:r>
              <a:rPr>
                <a:latin typeface="Courier"/>
              </a:rPr>
              <a:t>epic/ai-fraud-detection</a:t>
            </a:r>
            <a:r>
              <a:rPr/>
              <a:t> branch based on the existing Git tag</a:t>
            </a:r>
          </a:p>
          <a:p>
            <a:pPr lvl="0" indent="-342900" marL="342900">
              <a:buAutoNum type="arabicPeriod"/>
            </a:pPr>
            <a:r>
              <a:rPr/>
              <a:t>Creates a feature branch </a:t>
            </a:r>
            <a:r>
              <a:rPr>
                <a:latin typeface="Courier"/>
              </a:rPr>
              <a:t>feature/ai-fraud-detection/introduce-ai-model-to-mortgage-calculation</a:t>
            </a:r>
            <a:r>
              <a:rPr/>
              <a:t> from the epic branch.</a:t>
            </a:r>
          </a:p>
          <a:p>
            <a:pPr lvl="0" indent="-342900" marL="342900">
              <a:buAutoNum type="arabicPeriod"/>
            </a:pPr>
            <a:r>
              <a:rPr/>
              <a:t>Code locally</a:t>
            </a:r>
          </a:p>
          <a:p>
            <a:pPr lvl="0" indent="-342900" marL="342900">
              <a:buAutoNum type="arabicPeriod"/>
            </a:pPr>
            <a:r>
              <a:rPr/>
              <a:t>Build with DBB User Build</a:t>
            </a:r>
          </a:p>
          <a:p>
            <a:pPr lvl="0" indent="-342900" marL="342900">
              <a:buAutoNum type="arabicPeriod"/>
            </a:pPr>
            <a:r>
              <a:rPr/>
              <a:t>Commit into feature branch, push, build and test feature functionality</a:t>
            </a:r>
          </a:p>
          <a:p>
            <a:pPr lvl="0" indent="-342900" marL="342900">
              <a:buAutoNum type="arabicPeriod"/>
            </a:pPr>
            <a:r>
              <a:rPr/>
              <a:t>Create Pull Request for review and approval to merge into the integration branch</a:t>
            </a:r>
          </a:p>
          <a:p>
            <a:pPr lvl="0" indent="0" marL="0">
              <a:spcBef>
                <a:spcPts val="3000"/>
              </a:spcBef>
              <a:buNone/>
            </a:pPr>
            <a:r>
              <a:rPr b="1"/>
              <a:t>Using the Epic branch workflow</a:t>
            </a:r>
          </a:p>
          <a:p>
            <a:pPr lvl="0" indent="0" marL="0">
              <a:buNone/>
            </a:pPr>
            <a:r>
              <a:rPr b="1"/>
              <a:t>Release activities for implementing significant development initiatives:</a:t>
            </a:r>
          </a:p>
          <a:p>
            <a:pPr lvl="0" indent="-342900" marL="342900">
              <a:buAutoNum startAt="7" type="arabicPeriod"/>
            </a:pPr>
            <a:r>
              <a:rPr/>
              <a:t>Merge feature branch to epic branch and build</a:t>
            </a:r>
          </a:p>
          <a:p>
            <a:pPr lvl="0" indent="-342900" marL="342900">
              <a:buAutoNum startAt="7" type="arabicPeriod"/>
            </a:pPr>
            <a:r>
              <a:rPr/>
              <a:t>Use release pipeline to create preliminary package</a:t>
            </a:r>
          </a:p>
          <a:p>
            <a:pPr lvl="0" indent="-342900" marL="342900">
              <a:buAutoNum startAt="7" type="arabicPeriod"/>
            </a:pPr>
            <a:r>
              <a:rPr/>
              <a:t>Deploy package to project test environment</a:t>
            </a:r>
          </a:p>
          <a:p>
            <a:pPr lvl="0" indent="-342900" marL="342900">
              <a:buAutoNum startAt="7" type="arabicPeriod"/>
            </a:pPr>
            <a:r>
              <a:rPr/>
              <a:t>Frequently synchronize with </a:t>
            </a:r>
            <a:r>
              <a:rPr>
                <a:latin typeface="Courier"/>
              </a:rPr>
              <a:t>main</a:t>
            </a:r>
            <a:r>
              <a:rPr/>
              <a:t> into the epic branch to avoid making the merge of the </a:t>
            </a:r>
            <a:r>
              <a:rPr>
                <a:latin typeface="Courier"/>
              </a:rPr>
              <a:t>epic</a:t>
            </a:r>
            <a:r>
              <a:rPr/>
              <a:t> branch into </a:t>
            </a:r>
            <a:r>
              <a:rPr>
                <a:latin typeface="Courier"/>
              </a:rPr>
              <a:t>main</a:t>
            </a:r>
            <a:r>
              <a:rPr/>
              <a:t> difficult.</a:t>
            </a:r>
          </a:p>
          <a:p>
            <a:pPr lvl="0" indent="-342900" marL="342900">
              <a:buAutoNum startAt="7" type="arabicPeriod"/>
            </a:pPr>
            <a:r>
              <a:rPr/>
              <a:t>Decision </a:t>
            </a:r>
            <a:r>
              <a:rPr b="1"/>
              <a:t>when</a:t>
            </a:r>
            <a:r>
              <a:rPr/>
              <a:t> the changes on the epic branch should be released</a:t>
            </a:r>
          </a:p>
          <a:p>
            <a:pPr lvl="0" indent="-342900" marL="342900">
              <a:buAutoNum startAt="7" type="arabicPeriod"/>
            </a:pPr>
            <a:r>
              <a:rPr/>
              <a:t>Merge epic branch into </a:t>
            </a:r>
            <a:r>
              <a:rPr>
                <a:latin typeface="Courier"/>
              </a:rPr>
              <a:t>main</a:t>
            </a:r>
            <a:r>
              <a:rPr/>
              <a:t> and deliver via the base workflow.</a:t>
            </a:r>
          </a:p>
          <a:p>
            <a:pPr lvl="0" indent="0" marL="0">
              <a:spcBef>
                <a:spcPts val="3000"/>
              </a:spcBef>
              <a:buNone/>
            </a:pPr>
            <a:r>
              <a:rPr b="1"/>
              <a:t>Epic branch workflow</a:t>
            </a:r>
          </a:p>
        </p:txBody>
      </p:sp>
      <p:pic>
        <p:nvPicPr>
          <p:cNvPr descr="static/img/branching-model/image12.png" id="0" name="Picture 1"/>
          <p:cNvPicPr>
            <a:picLocks noGrp="1" noChangeAspect="1"/>
          </p:cNvPicPr>
          <p:nvPr/>
        </p:nvPicPr>
        <p:blipFill>
          <a:blip r:embed="rId2"/>
          <a:stretch>
            <a:fillRect/>
          </a:stretch>
        </p:blipFill>
        <p:spPr bwMode="auto">
          <a:xfrm>
            <a:off x="3568700" y="1244600"/>
            <a:ext cx="5105400" cy="2311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
                                            <p:txEl>
                                              <p:pRg st="27" end="27"/>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4">
                                            <p:txEl>
                                              <p:pRg st="28" end="28"/>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
                                            <p:txEl>
                                              <p:pRg st="31" end="31"/>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
                                            <p:txEl>
                                              <p:pRg st="32" end="32"/>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4">
                                            <p:txEl>
                                              <p:pRg st="33" end="33"/>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4">
                                            <p:txEl>
                                              <p:pRg st="34" end="34"/>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4">
                                            <p:txEl>
                                              <p:pRg st="35" end="35"/>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
                                            <p:txEl>
                                              <p:pRg st="36" end="3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Pipeline implementations</a:t>
            </a:r>
          </a:p>
        </p:txBody>
      </p:sp>
      <p:sp>
        <p:nvSpPr>
          <p:cNvPr id="4" name="Text Placeholder 3"/>
          <p:cNvSpPr>
            <a:spLocks noGrp="1"/>
          </p:cNvSpPr>
          <p:nvPr>
            <p:ph idx="2" sz="half" type="body"/>
          </p:nvPr>
        </p:nvSpPr>
        <p:spPr/>
        <p:txBody>
          <a:bodyPr/>
          <a:lstStyle/>
          <a:p>
            <a:pPr lvl="0" indent="0" marL="0">
              <a:spcBef>
                <a:spcPts val="3000"/>
              </a:spcBef>
              <a:buNone/>
            </a:pPr>
            <a:r>
              <a:rPr b="1"/>
              <a:t>Pipeline implementation conventions &amp; principles</a:t>
            </a:r>
          </a:p>
          <a:p>
            <a:pPr lvl="0" indent="0" marL="0">
              <a:spcBef>
                <a:spcPts val="3000"/>
              </a:spcBef>
              <a:buNone/>
            </a:pPr>
            <a:r>
              <a:rPr b="1"/>
              <a:t>Basic Build pipeline characteristics</a:t>
            </a:r>
          </a:p>
          <a:p>
            <a:pPr lvl="0"/>
            <a:r>
              <a:rPr/>
              <a:t>(Typically) runs on each commit added to the history of a branch</a:t>
            </a:r>
          </a:p>
          <a:p>
            <a:pPr lvl="0"/>
            <a:r>
              <a:rPr/>
              <a:t>Can produce a preliminary package that is stored in a binary artifact repository</a:t>
            </a:r>
          </a:p>
          <a:p>
            <a:pPr lvl="1"/>
            <a:r>
              <a:rPr/>
              <a:t>Can be deployed to test environments, but not production</a:t>
            </a:r>
          </a:p>
          <a:p>
            <a:pPr lvl="0"/>
            <a:r>
              <a:rPr/>
              <a:t>May include an automated step to deploy it into the DEV-TEST environment</a:t>
            </a:r>
          </a:p>
        </p:txBody>
      </p:sp>
      <p:pic>
        <p:nvPicPr>
          <p:cNvPr descr="static/img/branching-model/defaultWorkflow_buildPipelineAfterMerge.png" id="0" name="Picture 1"/>
          <p:cNvPicPr>
            <a:picLocks noGrp="1" noChangeAspect="1"/>
          </p:cNvPicPr>
          <p:nvPr/>
        </p:nvPicPr>
        <p:blipFill>
          <a:blip r:embed="rId2"/>
          <a:stretch>
            <a:fillRect/>
          </a:stretch>
        </p:blipFill>
        <p:spPr bwMode="auto">
          <a:xfrm>
            <a:off x="3568700" y="1460500"/>
            <a:ext cx="5105400" cy="1854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Release pipeline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Collateral</a:t>
            </a:r>
          </a:p>
        </p:txBody>
      </p:sp>
      <p:sp>
        <p:nvSpPr>
          <p:cNvPr id="3" name="Content Placeholder 2"/>
          <p:cNvSpPr>
            <a:spLocks noGrp="1"/>
          </p:cNvSpPr>
          <p:nvPr>
            <p:ph idx="1"/>
          </p:nvPr>
        </p:nvSpPr>
        <p:spPr/>
        <p:txBody>
          <a:bodyPr/>
          <a:lstStyle/>
          <a:p>
            <a:pPr lvl="0" indent="0" marL="0">
              <a:spcBef>
                <a:spcPts val="3000"/>
              </a:spcBef>
              <a:buNone/>
            </a:pPr>
            <a:r>
              <a:rPr b="1"/>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2023-11-30T13:50:16Z</dcterms:created>
  <dcterms:modified xsi:type="dcterms:W3CDTF">2023-11-30T13:50:16Z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