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Fundamentals of the branching strategy</a:t>
            </a:r>
          </a:p>
          <a:p>
            <a:pPr lvl="0"/>
            <a:r>
              <a:rPr/>
              <a:t>Supported workflows</a:t>
            </a:r>
          </a:p>
          <a:p>
            <a:pPr lvl="0"/>
            <a:r>
              <a:rPr/>
              <a:t>Implementing pipelines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Preparing to Merge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latin typeface="Courier"/>
              </a:rPr>
              <a:t>main</a:t>
            </a:r>
            <a:r>
              <a:rPr/>
              <a:t> and other long-lived branches are </a:t>
            </a:r>
            <a:r>
              <a:rPr i="1"/>
              <a:t>protected</a:t>
            </a:r>
            <a:r>
              <a:rPr/>
              <a:t> (not everyone can </a:t>
            </a:r>
            <a:r>
              <a:rPr>
                <a:latin typeface="Courier"/>
              </a:rPr>
              <a:t>push</a:t>
            </a:r>
            <a:r>
              <a:rPr/>
              <a:t> or </a:t>
            </a:r>
            <a:r>
              <a:rPr>
                <a:latin typeface="Courier"/>
              </a:rPr>
              <a:t>merge</a:t>
            </a:r>
            <a:r>
              <a:rPr/>
              <a:t> to them).</a:t>
            </a:r>
          </a:p>
          <a:p>
            <a:pPr lvl="0" indent="0" marL="0">
              <a:spcBef>
                <a:spcPts val="3000"/>
              </a:spcBef>
              <a:buNone/>
            </a:pPr>
            <a:r>
              <a:rPr b="1"/>
              <a:t>Before you ask… no,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to</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maintenance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Workflows supported by the strategy</a:t>
            </a:r>
          </a:p>
        </p:txBody>
      </p:sp>
      <p:sp>
        <p:nvSpPr>
          <p:cNvPr id="4" name="Text Placeholder 3"/>
          <p:cNvSpPr>
            <a:spLocks noGrp="1"/>
          </p:cNvSpPr>
          <p:nvPr>
            <p:ph idx="2" sz="half" type="body"/>
          </p:nvPr>
        </p:nvSpPr>
        <p:spPr/>
        <p:txBody>
          <a:bodyPr/>
          <a:lstStyle/>
          <a:p>
            <a:pPr lvl="0" indent="0" marL="0">
              <a:spcBef>
                <a:spcPts val="3000"/>
              </a:spcBef>
              <a:buNone/>
            </a:pPr>
            <a:r>
              <a:rPr b="1"/>
              <a:t>The types of workflows</a:t>
            </a:r>
          </a:p>
          <a:p>
            <a:pPr lvl="0" indent="-342900" marL="342900">
              <a:buAutoNum type="arabicParenR"/>
            </a:pPr>
            <a:r>
              <a:rPr/>
              <a:t>Work and focus on the </a:t>
            </a:r>
            <a:r>
              <a:rPr b="1"/>
              <a:t>next planned release</a:t>
            </a:r>
            <a:r>
              <a:rPr/>
              <a:t> via the </a:t>
            </a:r>
            <a:r>
              <a:rPr>
                <a:latin typeface="Courier"/>
              </a:rPr>
              <a:t>main</a:t>
            </a:r>
            <a:r>
              <a:rPr/>
              <a:t> branch. After planning the work items for the next release, the development team is adding changes to the main branch.</a:t>
            </a:r>
          </a:p>
          <a:p>
            <a:pPr lvl="0" indent="-342900" marL="342900">
              <a:buAutoNum type="arabicParenR"/>
            </a:pPr>
            <a:r>
              <a:rPr b="1"/>
              <a:t>Resolution of a production problem</a:t>
            </a:r>
            <a:r>
              <a:rPr/>
              <a:t> in the currently-released version of the application by leveraging a release maintenance branch that is used for maintenance purposes,</a:t>
            </a:r>
          </a:p>
          <a:p>
            <a:pPr lvl="0" indent="-342900" marL="342900">
              <a:buAutoNum type="arabicParenR"/>
            </a:pPr>
            <a:r>
              <a:rPr b="1"/>
              <a:t>concurrent development activities for significant development initiatives</a:t>
            </a:r>
            <a:r>
              <a:rPr/>
              <a:t>, which include multiple planned work items for a later delivery (including starting development of a future release) by creating an epic branch from a commit point in the history of main.</a:t>
            </a:r>
          </a:p>
          <a:p>
            <a:pPr lvl="0" indent="0" marL="0">
              <a:spcBef>
                <a:spcPts val="3000"/>
              </a:spcBef>
              <a:buNone/>
            </a:pPr>
            <a:r>
              <a:rPr b="1"/>
              <a:t>Hot-fix for production</a:t>
            </a:r>
          </a:p>
          <a:p>
            <a:pPr lvl="0"/>
            <a:r>
              <a:rPr/>
              <a:t>The process of urgent fixes for modules in the production environment follows the fix-forward approach, rather than rolling back the affected modules and reverting to the previous deployed state.</a:t>
            </a:r>
          </a:p>
          <a:p>
            <a:pPr lvl="0"/>
            <a:r>
              <a:rPr/>
              <a:t>The development team starts this process by creating a </a:t>
            </a:r>
            <a:r>
              <a:rPr b="1"/>
              <a:t>release maintenance</a:t>
            </a:r>
            <a:r>
              <a:rPr/>
              <a:t> branch of the git tag that represents the most recent release, that was deployed to production.</a:t>
            </a:r>
          </a:p>
        </p:txBody>
      </p:sp>
      <p:pic>
        <p:nvPicPr>
          <p:cNvPr descr="static/img/branching-model/releaseMaintenanceWorkflow_overview.png" id="0" name="Picture 1"/>
          <p:cNvPicPr>
            <a:picLocks noGrp="1" noChangeAspect="1"/>
          </p:cNvPicPr>
          <p:nvPr/>
        </p:nvPicPr>
        <p:blipFill>
          <a:blip r:embed="rId2"/>
          <a:stretch>
            <a:fillRect/>
          </a:stretch>
        </p:blipFill>
        <p:spPr bwMode="auto">
          <a:xfrm>
            <a:off x="4000500" y="203200"/>
            <a:ext cx="42418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Building the fix package</a:t>
            </a:r>
          </a:p>
          <a:p>
            <a:pPr lvl="0"/>
            <a:r>
              <a:rPr/>
              <a:t>Changes contributed to the release maintenance branch are build and packaged.</a:t>
            </a:r>
          </a:p>
          <a:p>
            <a:pPr lvl="0"/>
            <a:r>
              <a:rPr/>
              <a:t>The fix package is tested in the appropriate test env</a:t>
            </a:r>
          </a:p>
          <a:p>
            <a:pPr lvl="0"/>
            <a:r>
              <a:rPr/>
              <a:t>Finally deployed to production</a:t>
            </a:r>
          </a:p>
        </p:txBody>
      </p:sp>
      <p:pic>
        <p:nvPicPr>
          <p:cNvPr descr="static/img/branching-model/releaseMaintenanceWorkflow_fixPackageBuild.png" id="0" name="Picture 1"/>
          <p:cNvPicPr>
            <a:picLocks noGrp="1" noChangeAspect="1"/>
          </p:cNvPicPr>
          <p:nvPr/>
        </p:nvPicPr>
        <p:blipFill>
          <a:blip r:embed="rId2"/>
          <a:stretch>
            <a:fillRect/>
          </a:stretch>
        </p:blipFill>
        <p:spPr bwMode="auto">
          <a:xfrm>
            <a:off x="3568700" y="355600"/>
            <a:ext cx="5105400" cy="40640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The commit is tagged as the new version </a:t>
            </a:r>
            <a:r>
              <a:rPr>
                <a:latin typeface="Courier"/>
              </a:rPr>
              <a:t>2.1.1</a:t>
            </a:r>
            <a:r>
              <a:rPr/>
              <a:t>.</a:t>
            </a:r>
          </a:p>
          <a:p>
            <a:pPr lvl="0" indent="0" marL="0">
              <a:spcBef>
                <a:spcPts val="3000"/>
              </a:spcBef>
              <a:buNone/>
            </a:pPr>
            <a:r>
              <a:rPr b="1"/>
              <a:t>Using the Epic branch workflow</a:t>
            </a:r>
          </a:p>
          <a:p>
            <a:pPr lvl="0" indent="0" marL="0">
              <a:buNone/>
            </a:pPr>
            <a:r>
              <a:rPr/>
              <a:t>Dealing with significant development initiatives like</a:t>
            </a:r>
          </a:p>
          <a:p>
            <a:pPr lvl="0"/>
            <a:r>
              <a:rPr/>
              <a:t>Updates in regulatory frameworks</a:t>
            </a:r>
          </a:p>
          <a:p>
            <a:pPr lvl="0"/>
            <a:r>
              <a:rPr/>
              <a:t>Start the development phase of </a:t>
            </a:r>
            <a:r>
              <a:rPr i="1"/>
              <a:t>subsequent</a:t>
            </a:r>
            <a:r>
              <a:rPr/>
              <a:t> releases</a:t>
            </a:r>
          </a:p>
          <a:p>
            <a:pPr lvl="0" indent="0" marL="0">
              <a:buNone/>
            </a:pPr>
            <a:r>
              <a:rPr/>
              <a:t>-&gt; A process to work independently from the default workflow.</a:t>
            </a:r>
          </a:p>
          <a:p>
            <a:pPr lvl="0" indent="0" marL="0">
              <a:spcBef>
                <a:spcPts val="3000"/>
              </a:spcBef>
              <a:buNone/>
            </a:pPr>
            <a:r>
              <a:rPr b="1"/>
              <a:t>Epic branch workflow</a:t>
            </a:r>
          </a:p>
        </p:txBody>
      </p:sp>
      <p:pic>
        <p:nvPicPr>
          <p:cNvPr descr="static/img/branching-model/image12.png" id="0" name="Picture 1"/>
          <p:cNvPicPr>
            <a:picLocks noGrp="1" noChangeAspect="1"/>
          </p:cNvPicPr>
          <p:nvPr/>
        </p:nvPicPr>
        <p:blipFill>
          <a:blip r:embed="rId2"/>
          <a:stretch>
            <a:fillRect/>
          </a:stretch>
        </p:blipFill>
        <p:spPr bwMode="auto">
          <a:xfrm>
            <a:off x="3568700" y="1244600"/>
            <a:ext cx="5105400" cy="2311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Guidelines and policies in the epic branch workflow</a:t>
            </a:r>
          </a:p>
          <a:p>
            <a:pPr lvl="0"/>
            <a:r>
              <a:rPr/>
              <a:t>Frequently merge updates from </a:t>
            </a:r>
            <a:r>
              <a:rPr>
                <a:latin typeface="Courier"/>
              </a:rPr>
              <a:t>main</a:t>
            </a:r>
            <a:r>
              <a:rPr/>
              <a:t> into the epic branch to avoid making the merge of the </a:t>
            </a:r>
            <a:r>
              <a:rPr>
                <a:latin typeface="Courier"/>
              </a:rPr>
              <a:t>epic</a:t>
            </a:r>
            <a:r>
              <a:rPr/>
              <a:t> branch into </a:t>
            </a:r>
            <a:r>
              <a:rPr>
                <a:latin typeface="Courier"/>
              </a:rPr>
              <a:t>main</a:t>
            </a:r>
            <a:r>
              <a:rPr/>
              <a:t> difficult.</a:t>
            </a:r>
          </a:p>
          <a:p>
            <a:pPr lvl="0"/>
            <a:r>
              <a:rPr/>
              <a:t>Preliminary packages must not be deployed to a production runtime.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Pipeline implementations</a:t>
            </a:r>
          </a:p>
        </p:txBody>
      </p:sp>
      <p:sp>
        <p:nvSpPr>
          <p:cNvPr id="4" name="Text Placeholder 3"/>
          <p:cNvSpPr>
            <a:spLocks noGrp="1"/>
          </p:cNvSpPr>
          <p:nvPr>
            <p:ph idx="2" sz="half" type="body"/>
          </p:nvPr>
        </p:nvSpPr>
        <p:spPr/>
        <p:txBody>
          <a:bodyPr/>
          <a:lstStyle/>
          <a:p>
            <a:pPr lvl="0" indent="0" marL="0">
              <a:spcBef>
                <a:spcPts val="3000"/>
              </a:spcBef>
              <a:buNone/>
            </a:pPr>
            <a:r>
              <a:rPr b="1"/>
              <a:t>Pipeline principles</a:t>
            </a:r>
          </a:p>
          <a:p>
            <a:pPr lvl="0" indent="0" marL="0">
              <a:buNone/>
            </a:pPr>
            <a:r>
              <a:rPr/>
              <a:t>Git tags are leveraged to calculate the changes for the next planned release</a:t>
            </a:r>
          </a:p>
        </p:txBody>
      </p:sp>
      <p:pic>
        <p:nvPicPr>
          <p:cNvPr descr="static/img/branching-model/basicBuildPipeline-computeChanges-default-workflow.png" id="0" name="Picture 1"/>
          <p:cNvPicPr>
            <a:picLocks noGrp="1" noChangeAspect="1"/>
          </p:cNvPicPr>
          <p:nvPr/>
        </p:nvPicPr>
        <p:blipFill>
          <a:blip r:embed="rId2"/>
          <a:stretch>
            <a:fillRect/>
          </a:stretch>
        </p:blipFill>
        <p:spPr bwMode="auto">
          <a:xfrm>
            <a:off x="3568700" y="1066800"/>
            <a:ext cx="5105400" cy="264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Packages are always cumulative.</a:t>
            </a:r>
          </a:p>
          <a:p>
            <a:pPr lvl="0" indent="0" marL="0">
              <a:spcBef>
                <a:spcPts val="3000"/>
              </a:spcBef>
              <a:buNone/>
            </a:pPr>
            <a:r>
              <a:rPr b="1"/>
              <a:t>Basic Build pipeline</a:t>
            </a:r>
          </a:p>
          <a:p>
            <a:pPr lvl="0"/>
            <a:r>
              <a:rPr/>
              <a:t>(Typically) runs on each commit added to the history of a branch</a:t>
            </a:r>
          </a:p>
          <a:p>
            <a:pPr lvl="0"/>
            <a:r>
              <a:rPr/>
              <a:t>Produces a preliminary package that is stored in a binary repository</a:t>
            </a:r>
          </a:p>
          <a:p>
            <a:pPr lvl="0"/>
            <a:r>
              <a:rPr/>
              <a:t>May include an automated step to install it into the DEV-TEST environment</a:t>
            </a:r>
          </a:p>
          <a:p>
            <a:pPr lvl="0" indent="0" marL="0">
              <a:spcBef>
                <a:spcPts val="3000"/>
              </a:spcBef>
              <a:buNone/>
            </a:pPr>
            <a:r>
              <a:rPr b="1"/>
              <a:t>Release Pipeline</a:t>
            </a:r>
          </a:p>
          <a:p>
            <a:pPr lvl="0"/>
            <a:r>
              <a:rPr/>
              <a:t>Produces binaries optimized for performance</a:t>
            </a:r>
          </a:p>
          <a:p>
            <a:pPr lvl="0"/>
            <a:r>
              <a:rPr/>
              <a:t>(Typically) is manually requested by the development team when a level of stability is reached</a:t>
            </a:r>
          </a:p>
          <a:p>
            <a:pPr lvl="0"/>
            <a:r>
              <a:rPr/>
              <a:t>produces a release candidate package that can be deployed to higher test environments.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Collateral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2023-11-23T13:53:18Z</dcterms:created>
  <dcterms:modified xsi:type="dcterms:W3CDTF">2023-11-23T13:53:18Z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