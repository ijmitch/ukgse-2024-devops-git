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Choosing a branching model and workflow</a:t>
            </a:r>
          </a:p>
          <a:p>
            <a:pPr lvl="0"/>
            <a:r>
              <a:rPr/>
              <a:t>Starting simple</a:t>
            </a:r>
          </a:p>
          <a:p>
            <a:pPr lvl="0"/>
            <a:r>
              <a:rPr/>
              <a:t>Scaling up</a:t>
            </a:r>
          </a:p>
          <a:p>
            <a:pPr lvl="0"/>
            <a:r>
              <a:rPr/>
              <a:t>Integration branches</a:t>
            </a:r>
          </a:p>
          <a:p>
            <a:pPr lvl="0"/>
            <a:r>
              <a:rPr/>
              <a:t>Delivering changes via a release</a:t>
            </a:r>
          </a:p>
          <a:p>
            <a:pPr lvl="0"/>
            <a:r>
              <a:rPr/>
              <a:t>Hot-fix for production</a:t>
            </a:r>
          </a:p>
          <a:p>
            <a:pPr lvl="0"/>
            <a:r>
              <a:rPr/>
              <a:t>Using an Epic branch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There is no magic answer to managing large numbers of “in-flight” changes, so planning assumptions should aim as much as possible to complete changes quickly, ideally within one release cycle.</a:t>
            </a:r>
          </a:p>
          <a:p>
            <a:pPr lvl="1"/>
            <a:r>
              <a:rPr/>
              <a:t>DevOps/Agile practices typically encourage that, where possible, development teams should strive to break down larger changes into sets of smaller, incremental deliverables that can each be completed within an iteration. This reduces the number of “in-flight” changes, and allows the team to deliver value (end-to-end functionality) more quickly while still building towards a larger development goal.</a:t>
            </a:r>
          </a:p>
          <a:p>
            <a:pPr lvl="0"/>
            <a:r>
              <a:rPr/>
              <a:t>We know it is sometimes unavoidable for work to take longer than one release cycle and we accommodate that as a variant of the base workflow.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Branching Strategy</a:t>
            </a:r>
          </a:p>
        </p:txBody>
      </p:sp>
      <p:sp>
        <p:nvSpPr>
          <p:cNvPr id="3" name="Content Placeholder 2"/>
          <p:cNvSpPr>
            <a:spLocks noGrp="1"/>
          </p:cNvSpPr>
          <p:nvPr>
            <p:ph idx="1"/>
          </p:nvPr>
        </p:nvSpPr>
        <p:spPr/>
        <p:txBody>
          <a:bodyPr/>
          <a:lstStyle/>
          <a:p>
            <a:pPr lvl="0" indent="0" marL="0">
              <a:spcBef>
                <a:spcPts val="3000"/>
              </a:spcBef>
              <a:buNone/>
            </a:pPr>
            <a:r>
              <a:rPr b="1"/>
              <a:t>Starting Simple 1</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4648200" y="2387600"/>
            <a:ext cx="4038600" cy="990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Multiple commits (changes to multiple files) made to a branch by developers.</a:t>
            </a:r>
          </a:p>
          <a:p>
            <a:pPr lvl="0" indent="0" marL="0">
              <a:spcBef>
                <a:spcPts val="3000"/>
              </a:spcBef>
              <a:buNone/>
            </a:pPr>
            <a:r>
              <a:rPr b="1"/>
              <a:t>Starting Simple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Every change starts in a branch   These branches merge to </a:t>
            </a:r>
            <a:r>
              <a:rPr>
                <a:latin typeface="Courier"/>
              </a:rPr>
              <a:t>main</a:t>
            </a:r>
          </a:p>
        </p:txBody>
      </p:sp>
      <p:pic>
        <p:nvPicPr>
          <p:cNvPr descr="static/img/branching-model/image5.png" id="0" name="Picture 1"/>
          <p:cNvPicPr>
            <a:picLocks noGrp="1" noChangeAspect="1"/>
          </p:cNvPicPr>
          <p:nvPr/>
        </p:nvPicPr>
        <p:blipFill>
          <a:blip r:embed="rId2"/>
          <a:stretch>
            <a:fillRect/>
          </a:stretch>
        </p:blipFill>
        <p:spPr bwMode="auto">
          <a:xfrm>
            <a:off x="4648200" y="2387600"/>
            <a:ext cx="4038600" cy="990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Merging into </a:t>
            </a:r>
            <a:r>
              <a:rPr b="1">
                <a:latin typeface="Courier"/>
              </a:rPr>
              <a:t>main</a:t>
            </a:r>
          </a:p>
          <a:p>
            <a:pPr lvl="0" indent="0" marL="0">
              <a:buNone/>
            </a:pPr>
            <a:r>
              <a:rPr/>
              <a:t>Feature Team/Developers will:</a:t>
            </a:r>
          </a:p>
          <a:p>
            <a:pPr lvl="0"/>
            <a:r>
              <a:rPr/>
              <a:t>Build</a:t>
            </a:r>
          </a:p>
          <a:p>
            <a:pPr lvl="1"/>
            <a:r>
              <a:rPr/>
              <a:t>Builds may be done to any commit on any branch</a:t>
            </a:r>
          </a:p>
          <a:p>
            <a:pPr lvl="1"/>
            <a:r>
              <a:rPr/>
              <a:t>Feature branch </a:t>
            </a:r>
            <a:r>
              <a:rPr b="1"/>
              <a:t>must</a:t>
            </a:r>
            <a:r>
              <a:rPr/>
              <a:t> build cleanly for a Pull Request</a:t>
            </a:r>
          </a:p>
          <a:p>
            <a:pPr lvl="0"/>
            <a:r>
              <a:rPr/>
              <a:t>Test their built feature</a:t>
            </a:r>
          </a:p>
          <a:p>
            <a:pPr lvl="1"/>
            <a:r>
              <a:rPr/>
              <a:t>To prove quality</a:t>
            </a:r>
          </a:p>
          <a:p>
            <a:pPr lvl="0" indent="0" marL="0">
              <a:buNone/>
            </a:pPr>
            <a:r>
              <a:rPr/>
              <a:t>Create a Pull Request (PR) to signal to Team Leaders/Release Controllers to:</a:t>
            </a:r>
          </a:p>
          <a:p>
            <a:pPr lvl="0"/>
            <a:r>
              <a:rPr/>
              <a:t>Review</a:t>
            </a:r>
          </a:p>
          <a:p>
            <a:pPr lvl="1"/>
            <a:r>
              <a:rPr/>
              <a:t>Code and Test results</a:t>
            </a:r>
          </a:p>
          <a:p>
            <a:pPr lvl="0"/>
            <a:r>
              <a:rPr/>
              <a:t>Approve</a:t>
            </a:r>
          </a:p>
          <a:p>
            <a:pPr lvl="1"/>
            <a:r>
              <a:rPr/>
              <a:t>Safeguard the quality of </a:t>
            </a:r>
            <a:r>
              <a:rPr>
                <a:latin typeface="Courier"/>
              </a:rPr>
              <a:t>main</a:t>
            </a:r>
          </a:p>
          <a:p>
            <a:pPr lvl="0" indent="0" marL="0">
              <a:spcBef>
                <a:spcPts val="3000"/>
              </a:spcBef>
              <a:buNone/>
            </a:pPr>
            <a:r>
              <a:rPr b="1"/>
              <a:t>Before you ask… no, no </a:t>
            </a:r>
            <a:r>
              <a:rPr b="1" i="1"/>
              <a:t>Production</a:t>
            </a:r>
            <a:r>
              <a:rPr b="1"/>
              <a:t> branch</a:t>
            </a:r>
          </a:p>
          <a:p>
            <a:pPr lvl="0" indent="0" marL="0">
              <a:buNone/>
            </a:pPr>
            <a:r>
              <a:rPr/>
              <a:t>We have no branches named </a:t>
            </a:r>
            <a:r>
              <a:rPr>
                <a:latin typeface="Courier"/>
              </a:rPr>
              <a:t>prod</a:t>
            </a:r>
            <a:r>
              <a:rPr/>
              <a:t> (or </a:t>
            </a:r>
            <a:r>
              <a:rPr>
                <a:latin typeface="Courier"/>
              </a:rPr>
              <a:t>test</a:t>
            </a:r>
            <a:r>
              <a:rPr/>
              <a:t> or </a:t>
            </a:r>
            <a:r>
              <a:rPr>
                <a:latin typeface="Courier"/>
              </a:rPr>
              <a:t>QA</a:t>
            </a:r>
            <a:r>
              <a:rPr/>
              <a:t>)</a:t>
            </a:r>
          </a:p>
          <a:p>
            <a:pPr lvl="0"/>
            <a:r>
              <a:rPr/>
              <a:t>Those are </a:t>
            </a:r>
            <a:r>
              <a:rPr i="1"/>
              <a:t>environments</a:t>
            </a:r>
            <a:r>
              <a:rPr/>
              <a:t> to which builds can be deployed</a:t>
            </a:r>
          </a:p>
          <a:p>
            <a:pPr lvl="0"/>
            <a:r>
              <a:rPr/>
              <a:t>Such extra branches:</a:t>
            </a:r>
          </a:p>
          <a:p>
            <a:pPr lvl="1"/>
            <a:r>
              <a:rPr/>
              <a:t>are unnecessary</a:t>
            </a:r>
          </a:p>
          <a:p>
            <a:pPr lvl="1"/>
            <a:r>
              <a:rPr/>
              <a:t>cause ambiguity</a:t>
            </a:r>
          </a:p>
          <a:p>
            <a:pPr lvl="1"/>
            <a:r>
              <a:rPr/>
              <a:t>impose merging and building overheads</a:t>
            </a:r>
          </a:p>
          <a:p>
            <a:pPr lvl="0" indent="0" marL="0">
              <a:spcBef>
                <a:spcPts val="3000"/>
              </a:spcBef>
              <a:buNone/>
            </a:pPr>
            <a:r>
              <a:rPr b="1"/>
              <a:t>Release branches</a:t>
            </a:r>
          </a:p>
          <a:p>
            <a:pPr lvl="0" indent="0" marL="0">
              <a:buNone/>
            </a:pPr>
            <a:r>
              <a:rPr/>
              <a:t>Any point in the history of </a:t>
            </a:r>
            <a:r>
              <a:rPr>
                <a:latin typeface="Courier"/>
              </a:rPr>
              <a:t>main</a:t>
            </a:r>
            <a:r>
              <a:rPr/>
              <a:t> can be declared a </a:t>
            </a:r>
            <a:r>
              <a:rPr i="1"/>
              <a:t>release candidate</a:t>
            </a:r>
            <a:r>
              <a:rPr/>
              <a:t>.</a:t>
            </a:r>
          </a:p>
          <a:p>
            <a:pPr lvl="0"/>
            <a:r>
              <a:rPr/>
              <a:t>Build a </a:t>
            </a:r>
            <a:r>
              <a:rPr i="1"/>
              <a:t>release candidate</a:t>
            </a:r>
            <a:r>
              <a:rPr/>
              <a:t> package</a:t>
            </a:r>
          </a:p>
          <a:p>
            <a:pPr lvl="0"/>
            <a:r>
              <a:rPr/>
              <a:t>Test it</a:t>
            </a:r>
          </a:p>
          <a:p>
            <a:pPr lvl="0"/>
            <a:r>
              <a:rPr/>
              <a:t>Deploy it</a:t>
            </a:r>
          </a:p>
          <a:p>
            <a:pPr lvl="0" indent="0" marL="0">
              <a:buNone/>
            </a:pPr>
            <a:r>
              <a:rPr/>
              <a:t>Tag the commit (point in </a:t>
            </a:r>
            <a:r>
              <a:rPr>
                <a:latin typeface="Courier"/>
              </a:rPr>
              <a:t>main</a:t>
            </a:r>
            <a:r>
              <a:rPr/>
              <a:t>’s history) with a release name.</a:t>
            </a:r>
          </a:p>
          <a:p>
            <a:pPr lvl="0" indent="0" marL="0">
              <a:buNone/>
            </a:pPr>
            <a:r>
              <a:rPr/>
              <a:t>A </a:t>
            </a:r>
            <a:r>
              <a:rPr i="1"/>
              <a:t>release maintenance</a:t>
            </a:r>
            <a:r>
              <a:rPr/>
              <a:t> branch will be used if </a:t>
            </a:r>
            <a:r>
              <a:rPr i="1"/>
              <a:t>hot-fixes</a:t>
            </a:r>
            <a:r>
              <a:rPr/>
              <a:t> must be developed and delivered.</a:t>
            </a:r>
          </a:p>
          <a:p>
            <a:pPr lvl="0" indent="0" marL="0">
              <a:spcBef>
                <a:spcPts val="3000"/>
              </a:spcBef>
              <a:buNone/>
            </a:pPr>
            <a:r>
              <a:rPr b="1"/>
              <a:t>Release branches</a:t>
            </a:r>
          </a:p>
        </p:txBody>
      </p:sp>
      <p:pic>
        <p:nvPicPr>
          <p:cNvPr descr="static/img/branching-model/image2.png" id="0" name="Picture 1"/>
          <p:cNvPicPr>
            <a:picLocks noGrp="1" noChangeAspect="1"/>
          </p:cNvPicPr>
          <p:nvPr/>
        </p:nvPicPr>
        <p:blipFill>
          <a:blip r:embed="rId2"/>
          <a:stretch>
            <a:fillRect/>
          </a:stretch>
        </p:blipFill>
        <p:spPr bwMode="auto">
          <a:xfrm>
            <a:off x="3568700" y="406400"/>
            <a:ext cx="5105400" cy="3987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Scaling up</a:t>
            </a:r>
          </a:p>
          <a:p>
            <a:pPr lvl="0" indent="0" marL="0">
              <a:buNone/>
            </a:pPr>
            <a:r>
              <a:rPr/>
              <a:t>Concurrent </a:t>
            </a:r>
            <a:r>
              <a:rPr i="1"/>
              <a:t>feature</a:t>
            </a:r>
            <a:r>
              <a:rPr/>
              <a:t> branches scale very well, but assume short cycle times.</a:t>
            </a:r>
          </a:p>
          <a:p>
            <a:pPr lvl="0"/>
            <a:r>
              <a:rPr/>
              <a:t>Ideally live within a release delivery cycle</a:t>
            </a:r>
          </a:p>
          <a:p>
            <a:pPr lvl="0"/>
            <a:r>
              <a:rPr/>
              <a:t>But no big deal if they don’t</a:t>
            </a:r>
          </a:p>
          <a:p>
            <a:pPr lvl="0" indent="0" marL="0">
              <a:buNone/>
            </a:pPr>
            <a:r>
              <a:rPr i="1"/>
              <a:t>Epic</a:t>
            </a:r>
            <a:r>
              <a:rPr/>
              <a:t> branches can collect multiple features</a:t>
            </a:r>
          </a:p>
          <a:p>
            <a:pPr lvl="0"/>
            <a:r>
              <a:rPr/>
              <a:t>Before going to </a:t>
            </a:r>
            <a:r>
              <a:rPr>
                <a:latin typeface="Courier"/>
              </a:rPr>
              <a:t>main</a:t>
            </a:r>
          </a:p>
          <a:p>
            <a:pPr lvl="0"/>
            <a:r>
              <a:rPr/>
              <a:t>When the delivery is planned beyond the next release</a:t>
            </a:r>
          </a:p>
          <a:p>
            <a:pPr lvl="0" indent="0" marL="0">
              <a:buNone/>
            </a:pPr>
            <a:r>
              <a:rPr/>
              <a:t>(</a:t>
            </a:r>
            <a:r>
              <a:rPr i="1"/>
              <a:t>Epic</a:t>
            </a:r>
            <a:r>
              <a:rPr/>
              <a:t> branches are a form of </a:t>
            </a:r>
            <a:r>
              <a:rPr i="1"/>
              <a:t>integration</a:t>
            </a:r>
            <a:r>
              <a:rPr/>
              <a:t> branch.)</a:t>
            </a:r>
          </a:p>
          <a:p>
            <a:pPr lvl="0" indent="0" marL="0">
              <a:spcBef>
                <a:spcPts val="3000"/>
              </a:spcBef>
              <a:buNone/>
            </a:pPr>
            <a:r>
              <a:rPr b="1"/>
              <a:t>Integration branches</a:t>
            </a:r>
          </a:p>
        </p:txBody>
      </p:sp>
      <p:pic>
        <p:nvPicPr>
          <p:cNvPr descr="static/img/branching-model/image3.png" id="0" name="Picture 1"/>
          <p:cNvPicPr>
            <a:picLocks noGrp="1" noChangeAspect="1"/>
          </p:cNvPicPr>
          <p:nvPr/>
        </p:nvPicPr>
        <p:blipFill>
          <a:blip r:embed="rId2"/>
          <a:stretch>
            <a:fillRect/>
          </a:stretch>
        </p:blipFill>
        <p:spPr bwMode="auto">
          <a:xfrm>
            <a:off x="3568700" y="330200"/>
            <a:ext cx="5105400" cy="4140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Worflows supported by the strategy</a:t>
            </a:r>
          </a:p>
        </p:txBody>
      </p:sp>
      <p:sp>
        <p:nvSpPr>
          <p:cNvPr id="3" name="Content Placeholder 2"/>
          <p:cNvSpPr>
            <a:spLocks noGrp="1"/>
          </p:cNvSpPr>
          <p:nvPr>
            <p:ph idx="1"/>
          </p:nvPr>
        </p:nvSpPr>
        <p:spPr/>
        <p:txBody>
          <a:bodyPr/>
          <a:lstStyle/>
          <a:p>
            <a:pPr lvl="0" indent="0" marL="0">
              <a:spcBef>
                <a:spcPts val="3000"/>
              </a:spcBef>
              <a:buNone/>
            </a:pPr>
            <a:r>
              <a:rPr b="1"/>
              <a:t>Delivering changes via a release</a:t>
            </a:r>
          </a:p>
          <a:p>
            <a:pPr lvl="0" indent="0" marL="0">
              <a:spcBef>
                <a:spcPts val="3000"/>
              </a:spcBef>
              <a:buNone/>
            </a:pPr>
            <a:r>
              <a:rPr b="1"/>
              <a:t>Hot-fix for production</a:t>
            </a:r>
          </a:p>
          <a:p>
            <a:pPr lvl="0" indent="0" marL="0">
              <a:spcBef>
                <a:spcPts val="3000"/>
              </a:spcBef>
              <a:buNone/>
            </a:pPr>
            <a:r>
              <a:rPr b="1"/>
              <a:t>Using an Epic branch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2023-11-20T23:15:55Z</dcterms:created>
  <dcterms:modified xsi:type="dcterms:W3CDTF">2023-11-20T23:15:55Z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subtitle">
    <vt:lpwstr>Recommended by the DAT Team</vt:lpwstr>
  </property>
  <property fmtid="{D5CDD505-2E9C-101B-9397-08002B2CF9AE}" pid="10" name="toc-title">
    <vt:lpwstr>Table of contents</vt:lpwstr>
  </property>
</Properties>
</file>