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Fundamentals of the branching strategy</a:t>
            </a:r>
          </a:p>
          <a:p>
            <a:pPr lvl="0"/>
            <a:r>
              <a:rPr/>
              <a:t>Supported workflows</a:t>
            </a:r>
          </a:p>
          <a:p>
            <a:pPr lvl="0"/>
            <a:r>
              <a:rPr/>
              <a:t>Implementing pipelines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a:r>
              <a:rPr/>
              <a:t>Be </a:t>
            </a:r>
            <a:r>
              <a:rPr i="1"/>
              <a:t>git-native</a:t>
            </a:r>
            <a:r>
              <a:rPr/>
              <a:t>!</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 cadence of the next planned release is defined by the application team.</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defaultWorkflow_featureBranchPipelin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changes on 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Preparing to Merge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p:txBody>
      </p:sp>
      <p:pic>
        <p:nvPicPr>
          <p:cNvPr descr="static/img/branching-model/image18.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Merging into </a:t>
            </a:r>
            <a:r>
              <a:rPr b="1">
                <a:latin typeface="Courier"/>
              </a:rPr>
              <a:t>main</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latin typeface="Courier"/>
              </a:rPr>
              <a:t>main</a:t>
            </a:r>
            <a:r>
              <a:rPr/>
              <a:t> and other long-lived branches are </a:t>
            </a:r>
            <a:r>
              <a:rPr i="1"/>
              <a:t>protected</a:t>
            </a:r>
            <a:r>
              <a:rPr/>
              <a:t> (not everyone can </a:t>
            </a:r>
            <a:r>
              <a:rPr>
                <a:latin typeface="Courier"/>
              </a:rPr>
              <a:t>push</a:t>
            </a:r>
            <a:r>
              <a:rPr/>
              <a:t> or </a:t>
            </a:r>
            <a:r>
              <a:rPr>
                <a:latin typeface="Courier"/>
              </a:rPr>
              <a:t>merge</a:t>
            </a:r>
            <a:r>
              <a:rPr/>
              <a:t> to them).</a:t>
            </a:r>
          </a:p>
          <a:p>
            <a:pPr lvl="0" indent="0" marL="0">
              <a:spcBef>
                <a:spcPts val="3000"/>
              </a:spcBef>
              <a:buNone/>
            </a:pPr>
            <a:r>
              <a:rPr b="1"/>
              <a:t>Before you ask… no, there is no </a:t>
            </a:r>
            <a:r>
              <a:rPr b="1" i="1"/>
              <a:t>Production</a:t>
            </a:r>
            <a:r>
              <a:rPr b="1"/>
              <a:t> branch</a:t>
            </a:r>
          </a:p>
          <a:p>
            <a:pPr lvl="0" indent="0" marL="0">
              <a:buNone/>
            </a:pPr>
            <a:r>
              <a:rPr/>
              <a:t>CI/CD decouples the building and deploying to test environments and production.</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a:r>
              <a:rPr/>
              <a:t>Deployment manager is maintaining what is deployed where and provides traceability to</a:t>
            </a:r>
          </a:p>
          <a:p>
            <a:pPr lvl="0" indent="0" marL="0">
              <a:spcBef>
                <a:spcPts val="3000"/>
              </a:spcBef>
              <a:buNone/>
            </a:pPr>
            <a:r>
              <a:rPr b="1"/>
              <a:t>Testing a release candidate</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Deploy it</a:t>
            </a:r>
          </a:p>
          <a:p>
            <a:pPr lvl="0"/>
            <a:r>
              <a:rPr/>
              <a:t>Test it</a:t>
            </a:r>
          </a:p>
        </p:txBody>
      </p:sp>
      <p:pic>
        <p:nvPicPr>
          <p:cNvPr descr="static/img/branching-model/defaultWorkflow_releasePipeline_RC1.png" id="0" name="Picture 1"/>
          <p:cNvPicPr>
            <a:picLocks noGrp="1" noChangeAspect="1"/>
          </p:cNvPicPr>
          <p:nvPr/>
        </p:nvPicPr>
        <p:blipFill>
          <a:blip r:embed="rId2"/>
          <a:stretch>
            <a:fillRect/>
          </a:stretch>
        </p:blipFill>
        <p:spPr bwMode="auto">
          <a:xfrm>
            <a:off x="3568700" y="1320800"/>
            <a:ext cx="5105400" cy="2159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Deploying to production</a:t>
            </a:r>
          </a:p>
          <a:p>
            <a:pPr lvl="0" indent="0" marL="0">
              <a:buNone/>
            </a:pPr>
            <a:r>
              <a:rPr/>
              <a:t>When all the committed work items for the next planned release are ready to be shipped, and all quality gates have passed successfully and the required approvals have been issued by the appropriate reviewers, the release package and be deployed to production.</a:t>
            </a:r>
          </a:p>
        </p:txBody>
      </p:sp>
      <p:pic>
        <p:nvPicPr>
          <p:cNvPr descr="static/img/branching-model/defaultWorkflow_fullPic.png" id="0" name="Picture 1"/>
          <p:cNvPicPr>
            <a:picLocks noGrp="1" noChangeAspect="1"/>
          </p:cNvPicPr>
          <p:nvPr/>
        </p:nvPicPr>
        <p:blipFill>
          <a:blip r:embed="rId2"/>
          <a:stretch>
            <a:fillRect/>
          </a:stretch>
        </p:blipFill>
        <p:spPr bwMode="auto">
          <a:xfrm>
            <a:off x="3568700" y="1130300"/>
            <a:ext cx="51054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Tag the commit (point in </a:t>
            </a:r>
            <a:r>
              <a:rPr>
                <a:latin typeface="Courier"/>
              </a:rPr>
              <a:t>main</a:t>
            </a:r>
            <a:r>
              <a:rPr/>
              <a:t>’s history) with a release name.</a:t>
            </a:r>
          </a:p>
          <a:p>
            <a:pPr lvl="0" indent="0" marL="0">
              <a:spcBef>
                <a:spcPts val="3000"/>
              </a:spcBef>
              <a:buNone/>
            </a:pPr>
            <a:r>
              <a:rPr b="1"/>
              <a:t>Release maintenance branches</a:t>
            </a:r>
          </a:p>
          <a:p>
            <a:pPr lvl="0" indent="0" marL="0">
              <a:buNone/>
            </a:pPr>
            <a:r>
              <a:rPr/>
              <a:t>A </a:t>
            </a:r>
            <a:r>
              <a:rPr i="1"/>
              <a:t>release maintenance</a:t>
            </a:r>
            <a:r>
              <a:rPr/>
              <a:t> branch will be used if </a:t>
            </a:r>
            <a:r>
              <a:rPr i="1"/>
              <a:t>hot-fixes</a:t>
            </a:r>
            <a:r>
              <a:rPr/>
              <a:t> must be developed and delivered.</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Workflows supported by the strategy</a:t>
            </a:r>
          </a:p>
        </p:txBody>
      </p:sp>
      <p:sp>
        <p:nvSpPr>
          <p:cNvPr id="4" name="Text Placeholder 3"/>
          <p:cNvSpPr>
            <a:spLocks noGrp="1"/>
          </p:cNvSpPr>
          <p:nvPr>
            <p:ph idx="2" sz="half" type="body"/>
          </p:nvPr>
        </p:nvSpPr>
        <p:spPr/>
        <p:txBody>
          <a:bodyPr/>
          <a:lstStyle/>
          <a:p>
            <a:pPr lvl="0" indent="0" marL="0">
              <a:buNone/>
            </a:pPr>
            <a:r>
              <a:rPr/>
              <a:t>How do teams work with and benefit from the branch strategy?</a:t>
            </a:r>
          </a:p>
          <a:p>
            <a:pPr lvl="0" indent="0" marL="0">
              <a:spcBef>
                <a:spcPts val="3000"/>
              </a:spcBef>
              <a:buNone/>
            </a:pPr>
            <a:r>
              <a:rPr b="1"/>
              <a:t>The types of workflows</a:t>
            </a:r>
          </a:p>
          <a:p>
            <a:pPr lvl="0" indent="-342900" marL="342900">
              <a:buAutoNum type="arabicParenR"/>
            </a:pPr>
            <a:r>
              <a:rPr/>
              <a:t>Work and focus on the </a:t>
            </a:r>
            <a:r>
              <a:rPr b="1"/>
              <a:t>next planned release</a:t>
            </a:r>
            <a:r>
              <a:rPr/>
              <a:t> via the </a:t>
            </a:r>
            <a:r>
              <a:rPr>
                <a:latin typeface="Courier"/>
              </a:rPr>
              <a:t>main</a:t>
            </a:r>
            <a:r>
              <a:rPr/>
              <a:t> branch. After planning the work items for the next release, the development team is adding changes to the main branch.</a:t>
            </a:r>
          </a:p>
          <a:p>
            <a:pPr lvl="0" indent="-342900" marL="342900">
              <a:buAutoNum type="arabicParenR"/>
            </a:pPr>
            <a:r>
              <a:rPr b="1"/>
              <a:t>Resolution of a production problem</a:t>
            </a:r>
            <a:r>
              <a:rPr/>
              <a:t> in the currently-released version of the application by leveraging a release maintenance branch that is used for maintenance purposes,</a:t>
            </a:r>
          </a:p>
          <a:p>
            <a:pPr lvl="0" indent="-342900" marL="342900">
              <a:buAutoNum type="arabicParenR"/>
            </a:pPr>
            <a:r>
              <a:rPr b="1"/>
              <a:t>concurrent development activities for significant development initiatives</a:t>
            </a:r>
            <a:r>
              <a:rPr/>
              <a:t>, which include multiple planned work items for a later delivery (including starting development of a future release) by creating an epic branch from a commit point in the history of main.</a:t>
            </a:r>
          </a:p>
          <a:p>
            <a:pPr lvl="0" indent="0" marL="0">
              <a:spcBef>
                <a:spcPts val="3000"/>
              </a:spcBef>
              <a:buNone/>
            </a:pPr>
            <a:r>
              <a:rPr b="1"/>
              <a:t>Features for the next planned release</a:t>
            </a:r>
          </a:p>
          <a:p>
            <a:pPr lvl="0" indent="0" marL="0">
              <a:buNone/>
            </a:pPr>
            <a:r>
              <a:rPr i="1"/>
              <a:t>TO-DO</a:t>
            </a:r>
          </a:p>
          <a:p>
            <a:pPr lvl="0" indent="0" marL="0">
              <a:spcBef>
                <a:spcPts val="3000"/>
              </a:spcBef>
              <a:buNone/>
            </a:pPr>
            <a:r>
              <a:rPr b="1"/>
              <a:t>Hot-fix for production</a:t>
            </a:r>
          </a:p>
          <a:p>
            <a:pPr lvl="0"/>
            <a:r>
              <a:rPr/>
              <a:t>The process of urgent fixes for modules in the production environment follows the fix-forward approach, rather than rolling back the affected modules and reverting to the previous deployed state.</a:t>
            </a:r>
          </a:p>
          <a:p>
            <a:pPr lvl="0"/>
            <a:r>
              <a:rPr/>
              <a:t>The development team starts this process by creating a </a:t>
            </a:r>
            <a:r>
              <a:rPr b="1"/>
              <a:t>release maintenance</a:t>
            </a:r>
            <a:r>
              <a:rPr/>
              <a:t> branch of the git tag that represents the most recent release, that was deployed to production.</a:t>
            </a:r>
          </a:p>
        </p:txBody>
      </p:sp>
      <p:pic>
        <p:nvPicPr>
          <p:cNvPr descr="static/img/branching-model/releaseMaintenanceWorkflow_overview.png" id="0" name="Picture 1"/>
          <p:cNvPicPr>
            <a:picLocks noGrp="1" noChangeAspect="1"/>
          </p:cNvPicPr>
          <p:nvPr/>
        </p:nvPicPr>
        <p:blipFill>
          <a:blip r:embed="rId2"/>
          <a:stretch>
            <a:fillRect/>
          </a:stretch>
        </p:blipFill>
        <p:spPr bwMode="auto">
          <a:xfrm>
            <a:off x="4000500" y="203200"/>
            <a:ext cx="42418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Building the fix package</a:t>
            </a:r>
          </a:p>
          <a:p>
            <a:pPr lvl="0"/>
            <a:r>
              <a:rPr/>
              <a:t>Changes contributed to the release maintenance branch are build and packaged.</a:t>
            </a:r>
          </a:p>
          <a:p>
            <a:pPr lvl="0"/>
            <a:r>
              <a:rPr/>
              <a:t>The fix package is tested in the appropriate test environment(s)</a:t>
            </a:r>
          </a:p>
          <a:p>
            <a:pPr lvl="0"/>
            <a:r>
              <a:rPr/>
              <a:t>Finally deployed to production</a:t>
            </a:r>
          </a:p>
        </p:txBody>
      </p:sp>
      <p:pic>
        <p:nvPicPr>
          <p:cNvPr descr="static/img/branching-model/releaseMaintenanceWorkflow_fixPackageBuild.png" id="0" name="Picture 1"/>
          <p:cNvPicPr>
            <a:picLocks noGrp="1" noChangeAspect="1"/>
          </p:cNvPicPr>
          <p:nvPr/>
        </p:nvPicPr>
        <p:blipFill>
          <a:blip r:embed="rId2"/>
          <a:stretch>
            <a:fillRect/>
          </a:stretch>
        </p:blipFill>
        <p:spPr bwMode="auto">
          <a:xfrm>
            <a:off x="3568700" y="355600"/>
            <a:ext cx="5105400" cy="40640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The commit is tagged as the new version </a:t>
            </a:r>
            <a:r>
              <a:rPr>
                <a:latin typeface="Courier"/>
              </a:rPr>
              <a:t>2.1.1</a:t>
            </a:r>
            <a:r>
              <a:rPr/>
              <a:t>.</a:t>
            </a:r>
          </a:p>
          <a:p>
            <a:pPr lvl="0" indent="0" marL="0">
              <a:spcBef>
                <a:spcPts val="3000"/>
              </a:spcBef>
              <a:buNone/>
            </a:pPr>
            <a:r>
              <a:rPr b="1"/>
              <a:t>Using the Epic branch workflow</a:t>
            </a:r>
          </a:p>
          <a:p>
            <a:pPr lvl="0" indent="0" marL="0">
              <a:buNone/>
            </a:pPr>
            <a:r>
              <a:rPr/>
              <a:t>Dealing with significant development initiatives such as:</a:t>
            </a:r>
          </a:p>
          <a:p>
            <a:pPr lvl="0"/>
            <a:r>
              <a:rPr/>
              <a:t>Updates in regulatory frameworks</a:t>
            </a:r>
          </a:p>
          <a:p>
            <a:pPr lvl="0"/>
            <a:r>
              <a:rPr/>
              <a:t>Start the development phase of </a:t>
            </a:r>
            <a:r>
              <a:rPr i="1"/>
              <a:t>subsequent</a:t>
            </a:r>
            <a:r>
              <a:rPr/>
              <a:t> releases</a:t>
            </a:r>
          </a:p>
          <a:p>
            <a:pPr lvl="0" indent="0" marL="0">
              <a:buNone/>
            </a:pPr>
            <a:r>
              <a:rPr/>
              <a:t>→ A process to work independently from the default workflow.</a:t>
            </a:r>
          </a:p>
          <a:p>
            <a:pPr lvl="0" indent="0" marL="0">
              <a:spcBef>
                <a:spcPts val="3000"/>
              </a:spcBef>
              <a:buNone/>
            </a:pPr>
            <a:r>
              <a:rPr b="1"/>
              <a:t>Epic branch workflow</a:t>
            </a:r>
          </a:p>
        </p:txBody>
      </p:sp>
      <p:pic>
        <p:nvPicPr>
          <p:cNvPr descr="static/img/branching-model/image12.png" id="0" name="Picture 1"/>
          <p:cNvPicPr>
            <a:picLocks noGrp="1" noChangeAspect="1"/>
          </p:cNvPicPr>
          <p:nvPr/>
        </p:nvPicPr>
        <p:blipFill>
          <a:blip r:embed="rId2"/>
          <a:stretch>
            <a:fillRect/>
          </a:stretch>
        </p:blipFill>
        <p:spPr bwMode="auto">
          <a:xfrm>
            <a:off x="3568700" y="1244600"/>
            <a:ext cx="5105400" cy="2311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Guidelines and policies in the epic branch workflow</a:t>
            </a:r>
          </a:p>
          <a:p>
            <a:pPr lvl="0"/>
            <a:r>
              <a:rPr/>
              <a:t>Frequently synchronize with </a:t>
            </a:r>
            <a:r>
              <a:rPr>
                <a:latin typeface="Courier"/>
              </a:rPr>
              <a:t>main</a:t>
            </a:r>
            <a:r>
              <a:rPr/>
              <a:t> into the epic branch to avoid making the merge of the </a:t>
            </a:r>
            <a:r>
              <a:rPr>
                <a:latin typeface="Courier"/>
              </a:rPr>
              <a:t>epic</a:t>
            </a:r>
            <a:r>
              <a:rPr/>
              <a:t> branch into </a:t>
            </a:r>
            <a:r>
              <a:rPr>
                <a:latin typeface="Courier"/>
              </a:rPr>
              <a:t>main</a:t>
            </a:r>
            <a:r>
              <a:rPr/>
              <a:t> difficult.</a:t>
            </a:r>
          </a:p>
          <a:p>
            <a:pPr lvl="0"/>
            <a:r>
              <a:rPr/>
              <a:t>Preliminary packages must not be deployed to a production runtime.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Pipeline implementations</a:t>
            </a:r>
          </a:p>
        </p:txBody>
      </p:sp>
      <p:sp>
        <p:nvSpPr>
          <p:cNvPr id="4" name="Text Placeholder 3"/>
          <p:cNvSpPr>
            <a:spLocks noGrp="1"/>
          </p:cNvSpPr>
          <p:nvPr>
            <p:ph idx="2" sz="half" type="body"/>
          </p:nvPr>
        </p:nvSpPr>
        <p:spPr/>
        <p:txBody>
          <a:bodyPr/>
          <a:lstStyle/>
          <a:p>
            <a:pPr lvl="0" indent="0" marL="0">
              <a:spcBef>
                <a:spcPts val="3000"/>
              </a:spcBef>
              <a:buNone/>
            </a:pPr>
            <a:r>
              <a:rPr b="1"/>
              <a:t>Pipeline principles</a:t>
            </a:r>
          </a:p>
          <a:p>
            <a:pPr lvl="0" indent="0" marL="0">
              <a:buNone/>
            </a:pPr>
            <a:r>
              <a:rPr/>
              <a:t>Git tags are used to calculate the changes for the next planned release</a:t>
            </a:r>
          </a:p>
        </p:txBody>
      </p:sp>
      <p:pic>
        <p:nvPicPr>
          <p:cNvPr descr="static/img/branching-model/basicBuildPipeline-computeChanges-default-workflow.png" id="0" name="Picture 1"/>
          <p:cNvPicPr>
            <a:picLocks noGrp="1" noChangeAspect="1"/>
          </p:cNvPicPr>
          <p:nvPr/>
        </p:nvPicPr>
        <p:blipFill>
          <a:blip r:embed="rId2"/>
          <a:stretch>
            <a:fillRect/>
          </a:stretch>
        </p:blipFill>
        <p:spPr bwMode="auto">
          <a:xfrm>
            <a:off x="3568700" y="1066800"/>
            <a:ext cx="5105400" cy="264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Packages are always cumulative.</a:t>
            </a:r>
          </a:p>
          <a:p>
            <a:pPr lvl="0" indent="0" marL="0">
              <a:spcBef>
                <a:spcPts val="3000"/>
              </a:spcBef>
              <a:buNone/>
            </a:pPr>
            <a:r>
              <a:rPr b="1"/>
              <a:t>Basic Build pipeline</a:t>
            </a:r>
          </a:p>
          <a:p>
            <a:pPr lvl="0"/>
            <a:r>
              <a:rPr/>
              <a:t>(Typically) runs on each commit added to the history of a branch</a:t>
            </a:r>
          </a:p>
          <a:p>
            <a:pPr lvl="0"/>
            <a:r>
              <a:rPr/>
              <a:t>Produces a preliminary package that is stored in a binary repository</a:t>
            </a:r>
          </a:p>
          <a:p>
            <a:pPr lvl="0"/>
            <a:r>
              <a:rPr/>
              <a:t>May include an automated step to install it into the DEV-TEST environment</a:t>
            </a:r>
          </a:p>
          <a:p>
            <a:pPr lvl="0" indent="0" marL="0">
              <a:spcBef>
                <a:spcPts val="3000"/>
              </a:spcBef>
              <a:buNone/>
            </a:pPr>
            <a:r>
              <a:rPr b="1"/>
              <a:t>Release pipeline</a:t>
            </a:r>
          </a:p>
          <a:p>
            <a:pPr lvl="0"/>
            <a:r>
              <a:rPr/>
              <a:t>Produces binaries optimized for performance</a:t>
            </a:r>
          </a:p>
          <a:p>
            <a:pPr lvl="0"/>
            <a:r>
              <a:rPr/>
              <a:t>(Typically) is manually requested by the development team when a level of stability is reached</a:t>
            </a:r>
          </a:p>
          <a:p>
            <a:pPr lvl="0"/>
            <a:r>
              <a:rPr/>
              <a:t>produces a release candidate package that can be deployed to higher test environments.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Collateral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2023-11-23T14:20:10Z</dcterms:created>
  <dcterms:modified xsi:type="dcterms:W3CDTF">2023-11-23T14:20:10Z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