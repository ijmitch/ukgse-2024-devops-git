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a:p>
            <a:pPr lvl="0" indent="0" marL="0">
              <a:spcBef>
                <a:spcPts val="3000"/>
              </a:spcBef>
              <a:buNone/>
            </a:pPr>
            <a:r>
              <a:rPr b="1"/>
              <a:t>Before you ask… no, no </a:t>
            </a:r>
            <a:r>
              <a:rPr b="1" i="1"/>
              <a:t>Production</a:t>
            </a:r>
            <a:r>
              <a:rPr b="1"/>
              <a:t> branch</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indent="0" marL="0">
              <a:spcBef>
                <a:spcPts val="3000"/>
              </a:spcBef>
              <a:buNone/>
            </a:pPr>
            <a:r>
              <a:rPr b="1"/>
              <a:t>Release branches</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Test it</a:t>
            </a:r>
          </a:p>
          <a:p>
            <a:pPr lvl="0"/>
            <a:r>
              <a:rPr/>
              <a:t>Deploy it</a:t>
            </a:r>
          </a:p>
          <a:p>
            <a:pPr lvl="0" indent="0" marL="0">
              <a:buNone/>
            </a:pPr>
            <a:r>
              <a:rPr/>
              <a:t>Tag the commit (point in </a:t>
            </a:r>
            <a:r>
              <a:rPr>
                <a:latin typeface="Courier"/>
              </a:rPr>
              <a:t>main</a:t>
            </a:r>
            <a:r>
              <a:rPr/>
              <a:t>’s history) with a release name.</a:t>
            </a:r>
          </a:p>
          <a:p>
            <a:pPr lvl="0" indent="0" marL="0">
              <a:buNone/>
            </a:pPr>
            <a:r>
              <a:rPr/>
              <a:t>A </a:t>
            </a:r>
            <a:r>
              <a:rPr i="1"/>
              <a:t>release maintenance</a:t>
            </a:r>
            <a:r>
              <a:rPr/>
              <a:t> branch will be used if </a:t>
            </a:r>
            <a:r>
              <a:rPr i="1"/>
              <a:t>hot-fixes</a:t>
            </a:r>
            <a:r>
              <a:rPr/>
              <a:t> must be developed and delivered.</a:t>
            </a:r>
          </a:p>
          <a:p>
            <a:pPr lvl="0" indent="0" marL="0">
              <a:spcBef>
                <a:spcPts val="3000"/>
              </a:spcBef>
              <a:buNone/>
            </a:pPr>
            <a:r>
              <a:rPr b="1"/>
              <a:t>Release branches</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Worflows supported by the strategy</a:t>
            </a:r>
          </a:p>
        </p:txBody>
      </p:sp>
      <p:sp>
        <p:nvSpPr>
          <p:cNvPr id="4" name="Text Placeholder 3"/>
          <p:cNvSpPr>
            <a:spLocks noGrp="1"/>
          </p:cNvSpPr>
          <p:nvPr>
            <p:ph idx="2" sz="half" type="body"/>
          </p:nvPr>
        </p:nvSpPr>
        <p:spPr/>
        <p:txBody>
          <a:bodyPr/>
          <a:lstStyle/>
          <a:p>
            <a:pPr lvl="0" indent="0" marL="0">
              <a:buNone/>
            </a:pPr>
            <a:r>
              <a:rPr/>
              <a:t>What do teams do?</a:t>
            </a:r>
          </a:p>
          <a:p>
            <a:pPr lvl="0" indent="0" marL="0">
              <a:spcBef>
                <a:spcPts val="3000"/>
              </a:spcBef>
              <a:buNone/>
            </a:pPr>
            <a:r>
              <a:rPr b="1"/>
              <a:t>Three foundation workflows</a:t>
            </a:r>
          </a:p>
          <a:p>
            <a:pPr lvl="0"/>
            <a:r>
              <a:rPr/>
              <a:t>Deliver changes with the next planned release</a:t>
            </a:r>
          </a:p>
          <a:p>
            <a:pPr lvl="0"/>
            <a:r>
              <a:rPr/>
              <a:t>Implement a fix for the current production state</a:t>
            </a:r>
          </a:p>
          <a:p>
            <a:pPr lvl="0"/>
            <a:r>
              <a:rPr/>
              <a:t>Use an epic branch for a significant development initiative</a:t>
            </a:r>
          </a:p>
          <a:p>
            <a:pPr lvl="0" indent="0" marL="0">
              <a:spcBef>
                <a:spcPts val="3000"/>
              </a:spcBef>
              <a:buNone/>
            </a:pPr>
            <a:r>
              <a:rPr b="1"/>
              <a:t>Delivering changes via a release</a:t>
            </a:r>
          </a:p>
        </p:txBody>
      </p:sp>
      <p:pic>
        <p:nvPicPr>
          <p:cNvPr descr="p1_files/figure-pptx/mermaid-figure-1.png" id="0" name="Picture 1"/>
          <p:cNvPicPr>
            <a:picLocks noGrp="1" noChangeAspect="1"/>
          </p:cNvPicPr>
          <p:nvPr/>
        </p:nvPicPr>
        <p:blipFill>
          <a:blip r:embed="rId2"/>
          <a:stretch>
            <a:fillRect/>
          </a:stretch>
        </p:blipFill>
        <p:spPr bwMode="auto">
          <a:xfrm>
            <a:off x="3568700" y="2184400"/>
            <a:ext cx="5105400" cy="406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2023-11-22T11:54:37Z</dcterms:created>
  <dcterms:modified xsi:type="dcterms:W3CDTF">2023-11-22T11:54:37Z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